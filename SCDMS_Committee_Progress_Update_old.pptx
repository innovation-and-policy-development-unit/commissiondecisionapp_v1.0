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PUBLIC SERVICE COMMISSION  ·  VANUATU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&amp; Commission Decision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to the OPSC Management Committee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Information &amp; Technology Planning Division (IPDU)  |  July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development &amp; internal testing  ·  Dummy/seed data only  ·  Not yet a live pilot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019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SCDMS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3591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 and its mandate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019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9808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SCDMS is — and isn't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235915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boundary vs. HRMIS and other systems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564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built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913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roles, secretariat tools, security, AI, reporting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4564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98080" y="34747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0" y="3913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status — built and under internal testing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0109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83080" y="5029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54681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roadmap and the path to a live pilot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501091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A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498080" y="5029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Committee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0" y="546811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to keep momentum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SCDMS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Service Commission decides on personnel and related matters under the Public Service Act. Before SCDMS, that lifecycle ran across paper forms, email threads, and disconnected registers — making it hard to track a matter, enforce statutory deadlines, or report reliably to Commission.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6949440" cy="265176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6393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before SCDMS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record of where a submission sits, or who holds 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459028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working-day deadlines tracked manually, if at all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506577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minutes and decisions not searchable or auditable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541264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post-decision implementation status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818120" y="1600200"/>
            <a:ext cx="3840480" cy="4480560"/>
          </a:xfrm>
          <a:prstGeom prst="roundRect">
            <a:avLst>
              <a:gd name="adj" fmla="val 2143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SCDMS, in one 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3291840" cy="0"/>
          </a:xfrm>
          <a:prstGeom prst="line">
            <a:avLst/>
          </a:prstGeom>
          <a:noFill/>
          <a:ln w="12700">
            <a:solidFill>
              <a:srgbClr val="D3D9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5146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matter being submitted to the PSC, through Commission decision, to implementation being tracked.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92440" y="416052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managing an employee's entire career (that remains HRMIS / establishment systems — see next slide).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 in the systems landscape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 to avoid duplicating HRMIS, payroll, or other enterprise 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master, positions, leave, payroll inputs, recruitment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SCDMS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7200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submission workflow, assessment, Commission sittings, minutes, decision &amp; implementation tracking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595360" y="2148840"/>
            <a:ext cx="3063240" cy="2377440"/>
          </a:xfrm>
          <a:prstGeom prst="roundRect">
            <a:avLst>
              <a:gd name="adj" fmla="val 3462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823960" y="24048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/ Finance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823960" y="297180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case investigation  ·  Payroll &amp; vote execution after decision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11880" y="3218688"/>
            <a:ext cx="731520" cy="237744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3218688"/>
            <a:ext cx="731520" cy="237744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463600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 points only — not continuous sync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BF3E4"/>
          </a:solidFill>
          <a:ln w="12700">
            <a:solidFill>
              <a:srgbClr val="F0DFB8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525780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matter needs Commission approval recorded in minutes, or is a statutory PSC form — it belongs in SCDMS. Day-to-day HR, payroll, and pre-PSC recruitment stay in HRMIS.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record, from lodgement to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Lodgement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06752" y="2971800"/>
            <a:ext cx="219456" cy="182880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8" name="Shape 6"/>
          <p:cNvSpPr/>
          <p:nvPr/>
        </p:nvSpPr>
        <p:spPr>
          <a:xfrm>
            <a:off x="2426208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5936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99360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Routing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84320" y="2971800"/>
            <a:ext cx="219456" cy="182880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03776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3504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76928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61888" y="2971800"/>
            <a:ext cx="219456" cy="182880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D9A441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54496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39456" y="2971800"/>
            <a:ext cx="219456" cy="182880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58912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6864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2064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717024" y="2971800"/>
            <a:ext cx="219456" cy="182880"/>
          </a:xfrm>
          <a:prstGeom prst="rightArrow">
            <a:avLst/>
          </a:prstGeom>
          <a:solidFill>
            <a:srgbClr val="8FA9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936480" y="2377440"/>
            <a:ext cx="1676400" cy="1371600"/>
          </a:xfrm>
          <a:prstGeom prst="roundRect">
            <a:avLst>
              <a:gd name="adj" fmla="val 5333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620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09632" y="2761488"/>
            <a:ext cx="1530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transition is validated by role and unit routing, timestamped, and written to an audit trail — so a submission's full history is always reconstructable.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48640" y="5166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phases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5166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16+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29768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stages &amp; branches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5166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046720" y="5806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assessment units routed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ACCESS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across the full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2080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20802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91640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side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2768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Agency, Ministry HR, Department Admin — lodge and respond to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5100" y="20802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20802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06640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Secretariat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06640" y="22768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Officer, Secretary, Senior Admin — intake, registration, minutes, agenda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" y="36804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36804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91640" y="3493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Assessment Units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38770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VIPAM, HR Unit, ODU, Compliance — manager checklist gate + principal assessment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918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5100" y="36804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36804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06640" y="3493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06640" y="38770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Commissioners &amp; Chairperson — sitting participation and deliberation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" y="5280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52806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91640" y="5093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Post-Decision Execution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691640" y="54772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Manager, Principal Officer, Senior Officer — implementation tasks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892040"/>
            <a:ext cx="5394960" cy="1463040"/>
          </a:xfrm>
          <a:prstGeom prst="roundRect">
            <a:avLst>
              <a:gd name="adj" fmla="val 562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5100" y="5280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15100" y="52806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406640" y="50932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Administration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406640" y="547725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Administrator — users, form builder, configuration, security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SUBMISSIONS &amp; 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Digitised PSC forms, not a generic upload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5564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55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form builder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forms digitised field-by-field — text, dates, dropdowns, multi-page sections — with XML/JSON bulk import.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8163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canonical form categories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18211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OEM, REC, TCE, MET, MSD, MGRH, MGF, PM — covering appointments, salary, discipline, training, travel, and more.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9867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checklists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submission type carries its own compliance checklist, enforced at the manager review gate.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52669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266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15721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Parent/child packages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5522976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submissions (e.g. a main form plus its attachment forms) travel and are tracked together.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18120" y="1645920"/>
            <a:ext cx="3840480" cy="443484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92440" y="1874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handling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9244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Confidential-by-default attachments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29718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annotation (Fabric.js + PDF.js)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placement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System-generated PDFs for letters &amp; packs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COMMISSION SECRETARIAT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agenda to signed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Sittings calendar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manage Commission meeting types and status.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management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structure matters for each sitting.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editor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approve, and issue minutes — including flying minutes.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transcription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Audio-to-text pipeline with AI cleanup to support minute drafting.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262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workspace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project-board view of a sitting: queued submissions as tasks, drag-to-schedule.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register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auditable record of every Commission outcome.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POST-DECISION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doesn't disappear after the minute is signed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decisions become trackable tasks — assigned, sub-divided, and status-reported — so implementation is visible, not assumed.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1460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entered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assigned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4972" y="306324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3497580" y="251460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9020" y="251460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task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25312" y="306324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251460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1460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Sub-tasks &amp;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45652" y="3063240"/>
            <a:ext cx="292608" cy="182880"/>
          </a:xfrm>
          <a:prstGeom prst="rightArrow">
            <a:avLst/>
          </a:prstGeom>
          <a:solidFill>
            <a:srgbClr val="D9A441"/>
          </a:solidFill>
          <a:ln/>
        </p:spPr>
      </p:sp>
      <p:sp>
        <p:nvSpPr>
          <p:cNvPr id="14" name="Shape 12"/>
          <p:cNvSpPr/>
          <p:nvPr/>
        </p:nvSpPr>
        <p:spPr>
          <a:xfrm>
            <a:off x="8938260" y="2514600"/>
            <a:ext cx="2446020" cy="1280160"/>
          </a:xfrm>
          <a:prstGeom prst="roundRect">
            <a:avLst>
              <a:gd name="adj" fmla="val 5714"/>
            </a:avLst>
          </a:prstGeom>
          <a:solidFill>
            <a:srgbClr val="27317A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29700" y="2514600"/>
            <a:ext cx="22631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Managers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overall task delivery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Officers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assigned actions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4206240"/>
            <a:ext cx="3383280" cy="1691640"/>
          </a:xfrm>
          <a:prstGeom prst="roundRect">
            <a:avLst>
              <a:gd name="adj" fmla="val 4865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210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Officers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482803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and report progress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SECURITY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government system of record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516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1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80160" y="19933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access / 7-day refresh tokens, blacklisted on logout.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55080" y="18516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851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95160" y="1664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(TOTP)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95160" y="199339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Authenticator-app 2FA, globally enforceable for privileged roles.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129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29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25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re-authentication on trusted devices, time-boxed to business hours.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0129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0129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825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9516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django-axes: automatic lockout after repeated failed logins.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742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42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86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80160" y="43159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permissions mapped to role definitions, enforced on every API call.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41742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1742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95160" y="3986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95160" y="43159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create, update, delete, download and transition is logged — append-only.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3355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355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5148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documents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280160" y="547725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classified confidential by default.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55080" y="53355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53355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51480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tooling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95160" y="5477256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incident log, dependency/SAST scan results, and API inventory.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AI-ASSISTED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service of the decision process — not general HR analytics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checks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information on a package before it's submitted.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classification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checklist pre-fill from uploaded attachments.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8986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concise briefing summaries for the Secretary.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4904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transcription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sitting audio to text and supports minutes drafting.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4904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assistant chatbot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SCDMS procedures — not binding legal advice.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5661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74904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753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4773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policy guardrails and consistency checks for reviewers.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BEEN BUILT  ·  REPORTING &amp;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workflow data to decision-ready reporting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by stage, unit, and ministry for at-a-glance oversight.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0" y="18288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828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Intelligence Explorer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Superset-style interactive data explorer: ask a question in natural language, get a chart and a query you can refine.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29718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built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Reporting Engine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507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report catalog plus ad-hoc natural-language authoring, with a report library and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41148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4114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built, pending deploy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257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5650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full-text search across authorised submissions.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5257800"/>
            <a:ext cx="2423160" cy="365760"/>
          </a:xfrm>
          <a:prstGeom prst="roundRect">
            <a:avLst>
              <a:gd name="adj" fmla="val 50000"/>
            </a:avLst>
          </a:prstGeom>
          <a:solidFill>
            <a:srgbClr val="E4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5257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months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build, since May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shipped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6364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560320" cy="1920240"/>
          </a:xfrm>
          <a:prstGeom prst="roundRect">
            <a:avLst>
              <a:gd name="adj" fmla="val 4286"/>
            </a:avLst>
          </a:prstGeom>
          <a:solidFill>
            <a:srgbClr val="232C6B"/>
          </a:solidFill>
          <a:ln w="12700">
            <a:solidFill>
              <a:srgbClr val="3B459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9202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2743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 across the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build, end to 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5720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workflow engine covering all statutory stages — lodgement through implementation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0292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role groups implemented with enforced, role-scoped permissions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4864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secretariat, security, AI, and reporting modules all functioning end-to-end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Important: this is a progress update, not 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 and functioning across all core modules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a controlled environment with seeded / dummy data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ministry submissions, no real personnel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D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testing by the build team, not by end 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343400"/>
          </a:xfrm>
          <a:prstGeom prst="roundRect">
            <a:avLst>
              <a:gd name="adj" fmla="val 1895"/>
            </a:avLst>
          </a:prstGeom>
          <a:solidFill>
            <a:srgbClr val="1E2761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ahead before a 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pilot ministries and a defined pilot scope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(approved) reference data — ministries, departments, users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83680" y="35204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user acceptance testing with real OPSC and ministry staff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rollout plan for pilot participants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4617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sign-off on go-live readiness criteria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96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trigger → condition → action builder across submissions, cases, meetings, and tasks. Awaiting build approval.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366760" y="1984248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FBF0DC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19842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89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Reporting Engine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644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Parameterised report catalog plus ad-hoc natural-language reports, ready for migration and rollout.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66760" y="3054096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E4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30540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Built, pending deploy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9593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Explorer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3342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data-exploration UI now live for the Submissions dataset.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0" y="4123944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E4F4EC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41239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(P1)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5029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Workspace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0410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Project-board view of Commission sittings; kanban-by-stage and one-click approval still to come.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5193792"/>
            <a:ext cx="2468880" cy="384048"/>
          </a:xfrm>
          <a:prstGeom prst="roundRect">
            <a:avLst>
              <a:gd name="adj" fmla="val 47619"/>
            </a:avLst>
          </a:prstGeom>
          <a:solidFill>
            <a:srgbClr val="E4F4EC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5193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(P1–P2), P3–P4 remaining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path to a live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0"/>
            <a:ext cx="10149840" cy="0"/>
          </a:xfrm>
          <a:prstGeom prst="line">
            <a:avLst/>
          </a:prstGeom>
          <a:noFill/>
          <a:ln w="38100">
            <a:solidFill>
              <a:srgbClr val="3B45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54203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sign-off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pilot scope, ministries, and success criteria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514600"/>
            <a:ext cx="0" cy="27432"/>
          </a:xfrm>
          <a:prstGeom prst="line">
            <a:avLst/>
          </a:prstGeom>
          <a:noFill/>
          <a:ln w="19050">
            <a:solidFill>
              <a:srgbClr val="3B459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87952" y="254203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user setup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5468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 reference data; create verified accounts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944368"/>
            <a:ext cx="0" cy="256032"/>
          </a:xfrm>
          <a:prstGeom prst="line">
            <a:avLst/>
          </a:prstGeom>
          <a:noFill/>
          <a:ln w="19050">
            <a:solidFill>
              <a:srgbClr val="3B459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571232" y="254203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1691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OPSC and ministry staff test with real workflows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2514600"/>
            <a:ext cx="0" cy="27432"/>
          </a:xfrm>
          <a:prstGeom prst="line">
            <a:avLst/>
          </a:prstGeom>
          <a:noFill/>
          <a:ln w="19050">
            <a:solidFill>
              <a:srgbClr val="3B459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954512" y="2542032"/>
            <a:ext cx="402336" cy="402336"/>
          </a:xfrm>
          <a:prstGeom prst="ellipse">
            <a:avLst/>
          </a:prstGeom>
          <a:solidFill>
            <a:srgbClr val="D9A441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5451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74175" y="3200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go-live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74175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pilot ministries with support in place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155680" y="2944368"/>
            <a:ext cx="0" cy="256032"/>
          </a:xfrm>
          <a:prstGeom prst="line">
            <a:avLst/>
          </a:prstGeom>
          <a:noFill/>
          <a:ln w="19050">
            <a:solidFill>
              <a:srgbClr val="3B459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of the Committee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8973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" y="18973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8928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pilot approach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move from internal testing to a defined, scoped pilot phase.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5100" y="18973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8973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2360" y="18928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pilot ministries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the ministries / units to participate in the first pilot cohort.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" y="39547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" y="39547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39502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 &amp; user readiness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provisioning real reference data and verified user accounts for pilot participants.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6FC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5100" y="39547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5100" y="39547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3950208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review checkpoint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800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date for the Committee to review pilot results before wider rollout.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SCDMS — Submission &amp; Commission Decision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93192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760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&amp; Technology Planning Division (IPDU)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the Public Service Commission, Vanuatu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2026-07-26T21:51:30Z</dcterms:created>
  <dcterms:modified xsi:type="dcterms:W3CDTF">2026-07-26T21:51:30Z</dcterms:modified>
</cp:coreProperties>
</file>