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216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pic>
        <p:nvPicPr>
          <p:cNvPr id="4" name="Image 2" descr="C:\Users\Herman Tevilili\AppData\Local\Temp\claude\C--Users-Herman-Tevilili-Documents-GitHub-commissionDecisionApp-v1-0\2d2d3a12-ae9e-4f4b-990a-3e1ebe47ec28\scratchpad\scdms_deck\assets\crown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9722815" y="4921832"/>
            <a:ext cx="3383280" cy="280484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31520" y="1600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PUBLIC SERVICE COMMISSION  ·  VANUATU</a:t>
            </a:r>
            <a:endParaRPr lang="en-US" sz="1300" dirty="0"/>
          </a:p>
        </p:txBody>
      </p:sp>
      <p:sp>
        <p:nvSpPr>
          <p:cNvPr id="6" name="Text 1"/>
          <p:cNvSpPr/>
          <p:nvPr/>
        </p:nvSpPr>
        <p:spPr>
          <a:xfrm>
            <a:off x="731520" y="21488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SCDMS</a:t>
            </a:r>
            <a:endParaRPr lang="en-US" sz="5800" dirty="0"/>
          </a:p>
        </p:txBody>
      </p:sp>
      <p:sp>
        <p:nvSpPr>
          <p:cNvPr id="7" name="Text 2"/>
          <p:cNvSpPr/>
          <p:nvPr/>
        </p:nvSpPr>
        <p:spPr>
          <a:xfrm>
            <a:off x="731520" y="32461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D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&amp; Commission Decision Management System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731520" y="4069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to the OPSC Management Committee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31520" y="4526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development &amp; internal testing  ·  Dummy/seed data only  ·  Not yet a live pilot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9202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73736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SCDMS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37360" y="23591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 and its mandate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19202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31520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SCDMS is - and isn't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15200" y="235915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 vs. HRMIS and other systems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29184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34290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737360" y="3456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built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737360" y="38679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roles, secretariat tools, security, AI, reporting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329184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55080" y="34290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7315200" y="3456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315200" y="38679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status - built and under internal testing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8006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7240" y="49377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1737360" y="49651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737360" y="53766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roadmap and the path to a live pilot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26480" y="48006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355080" y="49377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7315200" y="49651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the Committee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315200" y="53766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to keep momentum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SCDMS exists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691640" y="169164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Service Commission decides on personnel and related matters under the Public Service Act. Before SCDMS, that lifecycle ran across paper forms, email threads, and disconnected registers - making it hard to track a matter, enforce statutory deadlines, or report reliably to Commission.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691640" y="3566160"/>
            <a:ext cx="5852160" cy="2606040"/>
          </a:xfrm>
          <a:prstGeom prst="roundRect">
            <a:avLst>
              <a:gd name="adj" fmla="val 3158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011680" y="37673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before SCDMS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011680" y="422452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record of where a submission sits, or who holds 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011680" y="4700016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working-day deadlines tracked manually, if at all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11680" y="5175504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minutes and decisions not searchable or auditable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11680" y="5650992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post-decision implementation status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1691640"/>
            <a:ext cx="3840480" cy="4480560"/>
          </a:xfrm>
          <a:prstGeom prst="roundRect">
            <a:avLst>
              <a:gd name="adj" fmla="val 2143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92440" y="19385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SCDMS, in one line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2331720"/>
            <a:ext cx="3291840" cy="0"/>
          </a:xfrm>
          <a:prstGeom prst="line">
            <a:avLst/>
          </a:prstGeom>
          <a:noFill/>
          <a:ln w="12700">
            <a:solidFill>
              <a:srgbClr val="DCD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25603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2C0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matter being submitted to the PSC, through Commission decision, to implementation being tracked.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92440" y="42062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managing an employee's entire career (that remains HRMIS / establishment systems - see next slide).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BOUNDARIES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SCDMS in the systems landscape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691640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scoped to avoid duplicating HRMIS, payroll, or other enterprise systems.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063240" cy="2377440"/>
          </a:xfrm>
          <a:prstGeom prst="roundRect">
            <a:avLst>
              <a:gd name="adj" fmla="val 3462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404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0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HRMIS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master, positions, leave, payroll inputs, recruitment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148840"/>
            <a:ext cx="3063240" cy="2377440"/>
          </a:xfrm>
          <a:prstGeom prst="roundRect">
            <a:avLst>
              <a:gd name="adj" fmla="val 3462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2404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SCDMS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0" y="29718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submission workflow, assessment, Commission sittings, minutes, decision &amp; implementation tracking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95360" y="2148840"/>
            <a:ext cx="3063240" cy="2377440"/>
          </a:xfrm>
          <a:prstGeom prst="roundRect">
            <a:avLst>
              <a:gd name="adj" fmla="val 3462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823960" y="2404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0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/ Finance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823960" y="29718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case investigation  ·  Payroll &amp; vote execution after decision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11880" y="3218688"/>
            <a:ext cx="73152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3"/>
          <p:cNvSpPr/>
          <p:nvPr/>
        </p:nvSpPr>
        <p:spPr>
          <a:xfrm>
            <a:off x="7863840" y="3218688"/>
            <a:ext cx="731520" cy="237744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3246120" y="463600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 points only - not continuous sync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BF3E4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guide:  </a:t>
            </a:r>
            <a:r>
              <a:rPr lang="en-US" sz="12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matter needs Commission approval recorded in minutes, or is a statutory PSC form - it belongs in SCDMS. Day-to-day HR, payroll, and pre-PSC recruitment stay in HRMIS.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CORE WORKFLOW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record, from lodgement to implementation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242316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241150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280720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Lodgement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206752" y="3017520"/>
            <a:ext cx="219456" cy="182880"/>
          </a:xfrm>
          <a:prstGeom prst="rightArrow">
            <a:avLst/>
          </a:prstGeom>
          <a:solidFill>
            <a:srgbClr val="CBBFE6"/>
          </a:solidFill>
          <a:ln/>
        </p:spPr>
      </p:sp>
      <p:sp>
        <p:nvSpPr>
          <p:cNvPr id="9" name="Shape 6"/>
          <p:cNvSpPr/>
          <p:nvPr/>
        </p:nvSpPr>
        <p:spPr>
          <a:xfrm>
            <a:off x="2426208" y="242316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241150"/>
          </a:solidFill>
          <a:ln/>
        </p:spPr>
      </p:sp>
      <p:sp>
        <p:nvSpPr>
          <p:cNvPr id="10" name="Text 7"/>
          <p:cNvSpPr/>
          <p:nvPr/>
        </p:nvSpPr>
        <p:spPr>
          <a:xfrm>
            <a:off x="2535936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99360" y="280720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Routing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084320" y="3017520"/>
            <a:ext cx="219456" cy="182880"/>
          </a:xfrm>
          <a:prstGeom prst="rightArrow">
            <a:avLst/>
          </a:prstGeom>
          <a:solidFill>
            <a:srgbClr val="CBBFE6"/>
          </a:solidFill>
          <a:ln/>
        </p:spPr>
      </p:sp>
      <p:sp>
        <p:nvSpPr>
          <p:cNvPr id="13" name="Shape 10"/>
          <p:cNvSpPr/>
          <p:nvPr/>
        </p:nvSpPr>
        <p:spPr>
          <a:xfrm>
            <a:off x="4303776" y="242316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241150"/>
          </a:solidFill>
          <a:ln/>
        </p:spPr>
      </p:sp>
      <p:sp>
        <p:nvSpPr>
          <p:cNvPr id="14" name="Text 11"/>
          <p:cNvSpPr/>
          <p:nvPr/>
        </p:nvSpPr>
        <p:spPr>
          <a:xfrm>
            <a:off x="4413504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76928" y="280720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61888" y="3017520"/>
            <a:ext cx="219456" cy="182880"/>
          </a:xfrm>
          <a:prstGeom prst="rightArrow">
            <a:avLst/>
          </a:prstGeom>
          <a:solidFill>
            <a:srgbClr val="CBBFE6"/>
          </a:solidFill>
          <a:ln/>
        </p:spPr>
      </p:sp>
      <p:sp>
        <p:nvSpPr>
          <p:cNvPr id="17" name="Shape 14"/>
          <p:cNvSpPr/>
          <p:nvPr/>
        </p:nvSpPr>
        <p:spPr>
          <a:xfrm>
            <a:off x="6181344" y="242316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54496" y="280720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839456" y="3017520"/>
            <a:ext cx="219456" cy="182880"/>
          </a:xfrm>
          <a:prstGeom prst="rightArrow">
            <a:avLst/>
          </a:prstGeom>
          <a:solidFill>
            <a:srgbClr val="CBBFE6"/>
          </a:solidFill>
          <a:ln/>
        </p:spPr>
      </p:sp>
      <p:sp>
        <p:nvSpPr>
          <p:cNvPr id="21" name="Shape 18"/>
          <p:cNvSpPr/>
          <p:nvPr/>
        </p:nvSpPr>
        <p:spPr>
          <a:xfrm>
            <a:off x="8058912" y="242316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241150"/>
          </a:solidFill>
          <a:ln/>
        </p:spPr>
      </p:sp>
      <p:sp>
        <p:nvSpPr>
          <p:cNvPr id="22" name="Text 19"/>
          <p:cNvSpPr/>
          <p:nvPr/>
        </p:nvSpPr>
        <p:spPr>
          <a:xfrm>
            <a:off x="816864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32064" y="280720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&amp;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9717024" y="3017520"/>
            <a:ext cx="219456" cy="182880"/>
          </a:xfrm>
          <a:prstGeom prst="rightArrow">
            <a:avLst/>
          </a:prstGeom>
          <a:solidFill>
            <a:srgbClr val="CBBFE6"/>
          </a:solidFill>
          <a:ln/>
        </p:spPr>
      </p:sp>
      <p:sp>
        <p:nvSpPr>
          <p:cNvPr id="25" name="Shape 22"/>
          <p:cNvSpPr/>
          <p:nvPr/>
        </p:nvSpPr>
        <p:spPr>
          <a:xfrm>
            <a:off x="9936480" y="242316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241150"/>
          </a:solidFill>
          <a:ln/>
        </p:spPr>
      </p:sp>
      <p:sp>
        <p:nvSpPr>
          <p:cNvPr id="26" name="Text 23"/>
          <p:cNvSpPr/>
          <p:nvPr/>
        </p:nvSpPr>
        <p:spPr>
          <a:xfrm>
            <a:off x="10046208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09632" y="280720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8640" y="4251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transition is validated by role and unit routing, timestamped, and written to an audit trail - so a submission's full history is always reconstructable.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48640" y="5212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30" name="Text 27"/>
          <p:cNvSpPr/>
          <p:nvPr/>
        </p:nvSpPr>
        <p:spPr>
          <a:xfrm>
            <a:off x="548640" y="5852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phases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297680" y="5212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16+</a:t>
            </a:r>
            <a:endParaRPr lang="en-US" sz="3400" dirty="0"/>
          </a:p>
        </p:txBody>
      </p:sp>
      <p:sp>
        <p:nvSpPr>
          <p:cNvPr id="32" name="Text 29"/>
          <p:cNvSpPr/>
          <p:nvPr/>
        </p:nvSpPr>
        <p:spPr>
          <a:xfrm>
            <a:off x="4297680" y="5852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stages &amp; branches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046720" y="5212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34" name="Text 31"/>
          <p:cNvSpPr/>
          <p:nvPr/>
        </p:nvSpPr>
        <p:spPr>
          <a:xfrm>
            <a:off x="8046720" y="5852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 assessment units routed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ACCESS &amp; ROLES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across the full process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13816" y="2162556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4"/>
          <p:cNvSpPr/>
          <p:nvPr/>
        </p:nvSpPr>
        <p:spPr>
          <a:xfrm>
            <a:off x="813816" y="21625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91640" y="198424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side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350008"/>
            <a:ext cx="3886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Agency, Ministry HR, Department Admin - lodge and respond to matters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178308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91656" y="2162556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9"/>
          <p:cNvSpPr/>
          <p:nvPr/>
        </p:nvSpPr>
        <p:spPr>
          <a:xfrm>
            <a:off x="6391656" y="21625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69480" y="198424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Secretariat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69480" y="2350008"/>
            <a:ext cx="3886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Officer, Secretary, Senior Admin - intake, registration, minutes, agenda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33756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3816" y="3717036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813816" y="37170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91640" y="35387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 Assessment Units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91640" y="3904488"/>
            <a:ext cx="3886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VIPAM, HR Unit, ODU, Compliance - manager checklist gate + principal assessment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26480" y="333756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91656" y="3717036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19"/>
          <p:cNvSpPr/>
          <p:nvPr/>
        </p:nvSpPr>
        <p:spPr>
          <a:xfrm>
            <a:off x="6391656" y="37170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269480" y="35387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269480" y="3904488"/>
            <a:ext cx="3886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Commissioners &amp; Chairperson - sitting participation and deliberation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489204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13816" y="5271516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7" name="Text 24"/>
          <p:cNvSpPr/>
          <p:nvPr/>
        </p:nvSpPr>
        <p:spPr>
          <a:xfrm>
            <a:off x="813816" y="52715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691640" y="50932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Post-Decision Execution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691640" y="5458968"/>
            <a:ext cx="3886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 Manager, Principal Officer, Senior Officer - implementation tasks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26480" y="489204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391656" y="5271516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29"/>
          <p:cNvSpPr/>
          <p:nvPr/>
        </p:nvSpPr>
        <p:spPr>
          <a:xfrm>
            <a:off x="6391656" y="52715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269480" y="50932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269480" y="5458968"/>
            <a:ext cx="3886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Administrator - users, form builder, configuration, security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SUBMISSIONS &amp; FORMS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Digitised PSC forms, not a generic upload box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1700784" y="183794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3"/>
          <p:cNvSpPr/>
          <p:nvPr/>
        </p:nvSpPr>
        <p:spPr>
          <a:xfrm>
            <a:off x="1700784" y="18379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77440" y="1737360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form builder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377440" y="210312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forms digitised field-by-field - text, dates, dropdowns, multi-page sections - with XML/JSON bulk import.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700784" y="3008376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7"/>
          <p:cNvSpPr/>
          <p:nvPr/>
        </p:nvSpPr>
        <p:spPr>
          <a:xfrm>
            <a:off x="1700784" y="30083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377440" y="2907792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canonical form categories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377440" y="3273552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OEM, REC, TCE, MET, MSD, MGRH, MGF, PM - covering appointments, salary, discipline, training, travel, and more.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700784" y="4178808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1"/>
          <p:cNvSpPr/>
          <p:nvPr/>
        </p:nvSpPr>
        <p:spPr>
          <a:xfrm>
            <a:off x="1700784" y="41788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377440" y="4078224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checklists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2377440" y="4443984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submission type carries its own compliance checklist, enforced at the manager review gate.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700784" y="5349240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1700784" y="53492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377440" y="5248656"/>
            <a:ext cx="5257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Parent/child packages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2377440" y="5614416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submissions (e.g. a main form plus its attachment forms) travel and are tracked together.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818120" y="1737360"/>
            <a:ext cx="3840480" cy="4389120"/>
          </a:xfrm>
          <a:prstGeom prst="roundRect">
            <a:avLst>
              <a:gd name="adj" fmla="val 2143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handling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9244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Confidential-by-default attachments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9244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annotation (Fabric.js + PDF.js)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9244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placement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092440" y="4251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System-generated PDFs for letters &amp; packs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COMMISSION SECRETARIAT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agenda to signed minutes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6384" y="197510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19751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6243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Sittings calendar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manage Commission meeting types and status.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51960" y="17830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197510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9"/>
          <p:cNvSpPr/>
          <p:nvPr/>
        </p:nvSpPr>
        <p:spPr>
          <a:xfrm>
            <a:off x="4489704" y="19751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80560" y="26243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management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80560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structure matters for each sitting.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55280" y="178308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93024" y="197510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8193024" y="19751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83880" y="26243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editor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83880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approve, and issue minutes - including flying minutes.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36576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86384" y="384962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38496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77240" y="44988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meeting transcription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77240" y="4846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Audio-to-text pipeline with AI cleanup to support minute drafting.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51960" y="36576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89704" y="384962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7" name="Text 24"/>
          <p:cNvSpPr/>
          <p:nvPr/>
        </p:nvSpPr>
        <p:spPr>
          <a:xfrm>
            <a:off x="4489704" y="38496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480560" y="44988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workspace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480560" y="4846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project-board view of a sitting: queued submissions as tasks, drag-to-schedule.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955280" y="36576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193024" y="384962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29"/>
          <p:cNvSpPr/>
          <p:nvPr/>
        </p:nvSpPr>
        <p:spPr>
          <a:xfrm>
            <a:off x="8193024" y="38496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8183880" y="44988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register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183880" y="4846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auditable record of every Commission outcome.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POST-DECISION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doesn't disappear after the minute is signed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691640" y="1554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D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decisions become trackable tasks - assigned, sub-divided, and status-reported - so implementation is visible, not assumed.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77240" y="2560320"/>
            <a:ext cx="2446020" cy="1280160"/>
          </a:xfrm>
          <a:prstGeom prst="roundRect">
            <a:avLst>
              <a:gd name="adj" fmla="val 5714"/>
            </a:avLst>
          </a:prstGeom>
          <a:solidFill>
            <a:srgbClr val="241150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560320"/>
            <a:ext cx="22631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entered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assigned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4972" y="3108960"/>
            <a:ext cx="292608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9" name="Shape 6"/>
          <p:cNvSpPr/>
          <p:nvPr/>
        </p:nvSpPr>
        <p:spPr>
          <a:xfrm>
            <a:off x="3497580" y="2560320"/>
            <a:ext cx="2446020" cy="1280160"/>
          </a:xfrm>
          <a:prstGeom prst="roundRect">
            <a:avLst>
              <a:gd name="adj" fmla="val 5714"/>
            </a:avLst>
          </a:prstGeom>
          <a:solidFill>
            <a:srgbClr val="241150"/>
          </a:solidFill>
          <a:ln/>
        </p:spPr>
      </p:sp>
      <p:sp>
        <p:nvSpPr>
          <p:cNvPr id="10" name="Text 7"/>
          <p:cNvSpPr/>
          <p:nvPr/>
        </p:nvSpPr>
        <p:spPr>
          <a:xfrm>
            <a:off x="3589020" y="2560320"/>
            <a:ext cx="22631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task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25312" y="3108960"/>
            <a:ext cx="292608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0" y="2560320"/>
            <a:ext cx="2446020" cy="1280160"/>
          </a:xfrm>
          <a:prstGeom prst="roundRect">
            <a:avLst>
              <a:gd name="adj" fmla="val 5714"/>
            </a:avLst>
          </a:prstGeom>
          <a:solidFill>
            <a:srgbClr val="241150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560320"/>
            <a:ext cx="22631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 &amp;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45652" y="3108960"/>
            <a:ext cx="292608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5" name="Shape 12"/>
          <p:cNvSpPr/>
          <p:nvPr/>
        </p:nvSpPr>
        <p:spPr>
          <a:xfrm>
            <a:off x="8938260" y="2560320"/>
            <a:ext cx="2446020" cy="1280160"/>
          </a:xfrm>
          <a:prstGeom prst="roundRect">
            <a:avLst>
              <a:gd name="adj" fmla="val 5714"/>
            </a:avLst>
          </a:prstGeom>
          <a:solidFill>
            <a:srgbClr val="241150"/>
          </a:solidFill>
          <a:ln/>
        </p:spPr>
      </p:sp>
      <p:sp>
        <p:nvSpPr>
          <p:cNvPr id="16" name="Text 13"/>
          <p:cNvSpPr/>
          <p:nvPr/>
        </p:nvSpPr>
        <p:spPr>
          <a:xfrm>
            <a:off x="9029700" y="2560320"/>
            <a:ext cx="22631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" y="42062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0584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 Managers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48280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overall task delivery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434840" y="42062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6344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Officers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663440" y="48280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assigned actions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92440" y="42062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32104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Officers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321040" y="48280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report progress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SECURITY &amp; GOVERNANCE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government system of record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21792" y="196596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7556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208483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access / 7-day refresh tokens, blacklisted on logout.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99632" y="196596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7"/>
          <p:cNvSpPr/>
          <p:nvPr/>
        </p:nvSpPr>
        <p:spPr>
          <a:xfrm>
            <a:off x="6199632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12280" y="17556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(TOTP)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12280" y="208483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Authenticator-app 2FA, globally enforceable for privileged roles.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" y="315468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34440" y="29443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327355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re-authentication on trusted devices, time-boxed to business hours.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99632" y="315468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3154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12280" y="29443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lockout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12280" y="327355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django-axes: automatic lockout after repeated failed logins.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1792" y="43434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34440" y="41330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34440" y="446227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permissions mapped to role definitions, enforced on every API call.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99632" y="43434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3"/>
          <p:cNvSpPr/>
          <p:nvPr/>
        </p:nvSpPr>
        <p:spPr>
          <a:xfrm>
            <a:off x="6199632" y="4343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12280" y="41330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12280" y="446227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create, update, delete, download and transition is logged - append-only.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21792" y="553212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7"/>
          <p:cNvSpPr/>
          <p:nvPr/>
        </p:nvSpPr>
        <p:spPr>
          <a:xfrm>
            <a:off x="621792" y="5532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234440" y="53218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documents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234440" y="565099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classified confidential by default.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99632" y="553212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1"/>
          <p:cNvSpPr/>
          <p:nvPr/>
        </p:nvSpPr>
        <p:spPr>
          <a:xfrm>
            <a:off x="6199632" y="5532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812280" y="53218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tooling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812280" y="565099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incident log, dependency/SAST scan results, and API inventory.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AI-ASSISTED FEATURES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service of the decision process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9164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general HR analytics.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2048256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20482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checks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02666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missing information on a package before it's submitted.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51960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9704" y="2048256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4489704" y="20482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480560" y="2697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classification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80560" y="302666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checklist pre-fill from uploaded attachments.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55280" y="187452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93024" y="2048256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5"/>
          <p:cNvSpPr/>
          <p:nvPr/>
        </p:nvSpPr>
        <p:spPr>
          <a:xfrm>
            <a:off x="8193024" y="20482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183880" y="2697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83880" y="302666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concise briefing summaries for the Secretary.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6576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86384" y="3831336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" y="38313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77240" y="4480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" y="480974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sitting audio to text and supports minutes drafting.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51960" y="36576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489704" y="3831336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8" name="Text 25"/>
          <p:cNvSpPr/>
          <p:nvPr/>
        </p:nvSpPr>
        <p:spPr>
          <a:xfrm>
            <a:off x="4489704" y="38313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480560" y="4480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assistant chatbot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480560" y="480974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SCDMS procedures - not binding legal advice.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955280" y="36576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193024" y="3831336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3" name="Text 30"/>
          <p:cNvSpPr/>
          <p:nvPr/>
        </p:nvSpPr>
        <p:spPr>
          <a:xfrm>
            <a:off x="8193024" y="38313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183880" y="4480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scoring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183880" y="480974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policy guardrails and consistency checks for reviewers.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REPORTING &amp; INTELLIGENCE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workflow data to decision-ready reporting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8196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0370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by stage, unit, and ministry for at-a-glance oversight.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12480" y="1819656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18196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807208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29352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Intelligence Explorer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3192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Superset-style interactive data explorer: ask a question in natural language, get a chart and a query you can refine.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412480" y="2935224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0" y="29352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built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922776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" y="40507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Reporting Engine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report catalog plus ad-hoc natural-language authoring, with a report library and history.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12480" y="4050792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0" y="40507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built, pending deploy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5038344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2960" y="5166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" y="55504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full-text search across authorised submissions.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412480" y="516636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0" y="5166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walk through it - submission to action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69164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the main screens a matter passes through, end to end. Not every menu - just the path a decision actually takes.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1676400" cy="1965960"/>
          </a:xfrm>
          <a:prstGeom prst="roundRect">
            <a:avLst>
              <a:gd name="adj" fmla="val 4909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664" y="252374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5"/>
          <p:cNvSpPr/>
          <p:nvPr/>
        </p:nvSpPr>
        <p:spPr>
          <a:xfrm>
            <a:off x="1121664" y="25237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3200400"/>
            <a:ext cx="145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Submission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6656" y="3657600"/>
            <a:ext cx="1420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lodges a digitised PSC form with attachments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06752" y="3223260"/>
            <a:ext cx="219456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2" name="Shape 9"/>
          <p:cNvSpPr/>
          <p:nvPr/>
        </p:nvSpPr>
        <p:spPr>
          <a:xfrm>
            <a:off x="2426208" y="2331720"/>
            <a:ext cx="1676400" cy="1965960"/>
          </a:xfrm>
          <a:prstGeom prst="roundRect">
            <a:avLst>
              <a:gd name="adj" fmla="val 4909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99232" y="252374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1"/>
          <p:cNvSpPr/>
          <p:nvPr/>
        </p:nvSpPr>
        <p:spPr>
          <a:xfrm>
            <a:off x="2999232" y="25237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35936" y="3200400"/>
            <a:ext cx="145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554224" y="3657600"/>
            <a:ext cx="1420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manager checklist, then principal assessment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84320" y="3223260"/>
            <a:ext cx="219456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8" name="Shape 15"/>
          <p:cNvSpPr/>
          <p:nvPr/>
        </p:nvSpPr>
        <p:spPr>
          <a:xfrm>
            <a:off x="4303776" y="2331720"/>
            <a:ext cx="1676400" cy="1965960"/>
          </a:xfrm>
          <a:prstGeom prst="roundRect">
            <a:avLst>
              <a:gd name="adj" fmla="val 4909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76800" y="252374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7"/>
          <p:cNvSpPr/>
          <p:nvPr/>
        </p:nvSpPr>
        <p:spPr>
          <a:xfrm>
            <a:off x="4876800" y="25237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13504" y="3200400"/>
            <a:ext cx="145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&amp; Sitting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431792" y="3657600"/>
            <a:ext cx="1420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tabled and deliberated at a Commission sitting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961888" y="3223260"/>
            <a:ext cx="219456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4" name="Shape 21"/>
          <p:cNvSpPr/>
          <p:nvPr/>
        </p:nvSpPr>
        <p:spPr>
          <a:xfrm>
            <a:off x="6181344" y="2331720"/>
            <a:ext cx="1676400" cy="1965960"/>
          </a:xfrm>
          <a:prstGeom prst="roundRect">
            <a:avLst>
              <a:gd name="adj" fmla="val 4909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754368" y="252374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3"/>
          <p:cNvSpPr/>
          <p:nvPr/>
        </p:nvSpPr>
        <p:spPr>
          <a:xfrm>
            <a:off x="6754368" y="25237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291072" y="3200400"/>
            <a:ext cx="145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309360" y="3657600"/>
            <a:ext cx="1420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recorded and minutes drafted &amp; signed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839456" y="3223260"/>
            <a:ext cx="219456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30" name="Shape 27"/>
          <p:cNvSpPr/>
          <p:nvPr/>
        </p:nvSpPr>
        <p:spPr>
          <a:xfrm>
            <a:off x="8058912" y="2331720"/>
            <a:ext cx="1676400" cy="1965960"/>
          </a:xfrm>
          <a:prstGeom prst="roundRect">
            <a:avLst>
              <a:gd name="adj" fmla="val 4909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631936" y="252374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29"/>
          <p:cNvSpPr/>
          <p:nvPr/>
        </p:nvSpPr>
        <p:spPr>
          <a:xfrm>
            <a:off x="8631936" y="25237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168640" y="3200400"/>
            <a:ext cx="145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Assigned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186928" y="3657600"/>
            <a:ext cx="1420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task created and assigned to an OPSC officer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9717024" y="3223260"/>
            <a:ext cx="219456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36" name="Shape 33"/>
          <p:cNvSpPr/>
          <p:nvPr/>
        </p:nvSpPr>
        <p:spPr>
          <a:xfrm>
            <a:off x="9936480" y="2331720"/>
            <a:ext cx="1676400" cy="1965960"/>
          </a:xfrm>
          <a:prstGeom prst="roundRect">
            <a:avLst>
              <a:gd name="adj" fmla="val 4909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509504" y="2523744"/>
            <a:ext cx="530352" cy="5303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8" name="Text 35"/>
          <p:cNvSpPr/>
          <p:nvPr/>
        </p:nvSpPr>
        <p:spPr>
          <a:xfrm>
            <a:off x="10509504" y="25237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0046208" y="3200400"/>
            <a:ext cx="1456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&amp; Status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10064496" y="3657600"/>
            <a:ext cx="1420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 tracked to an implementation report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seeded / dummy data in the internal test environment.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snapshot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2011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months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8580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active build, since May 2026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37560" y="178308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37560" y="2011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47472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shipped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011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26364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915400" y="1783080"/>
            <a:ext cx="2560320" cy="1874520"/>
          </a:xfrm>
          <a:prstGeom prst="roundRect">
            <a:avLst>
              <a:gd name="adj" fmla="val 4390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915400" y="2011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905256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across the workflow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11064240" cy="2103120"/>
          </a:xfrm>
          <a:prstGeom prst="roundRect">
            <a:avLst>
              <a:gd name="adj" fmla="val 3913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686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build, end to end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45720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 engine covering all statutory stages - lodgement through implementation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50292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role groups implemented with enforced, role-scoped permissions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5486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secretariat, security, AI, and reporting modules all functioning end-to-end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  ·  INFRASTRUCTURE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&amp; failover: provisioning with DCDT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691640" y="1325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runs on government-owned infrastructure under the Digital Transformation Act - production deployment is on hold until hosting is provisioned and a Certificate of Compliance is issued.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application server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480560" y="22860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9" name="Text 6"/>
          <p:cNvSpPr/>
          <p:nvPr/>
        </p:nvSpPr>
        <p:spPr>
          <a:xfrm>
            <a:off x="4480560" y="22860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278892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vCPU · 32 GB RAM · 500 GB storage · Ubuntu 24.04 LTS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341071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at the DCDT data centre, Port Vila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8680" y="403250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TLS certificate, government SMTP relay, and outbound access for automated vulnerability scanning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65429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provisioning request submitted - awaiting DCDT allocation and Certificate of Compliance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205740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failover server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0058400" y="22860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0" y="228600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83680" y="278892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standby server so SCDMS stays available if the primary server goes down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85216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68680" y="58521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place, independent of DCDT hosting:  </a:t>
            </a: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database backups are scheduled inside the application itself (Celery + Celery Beat) - this covers data, not server uptime.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Important: this is a progress update, not a pilot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24505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built and functioning across all core modules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9992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a controlled environment with seeded / dummy data only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5478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ministry submissions, no real personnel data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0965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testing by the build team, not by end users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73736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1E0E42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ahead before a pilot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583680" y="24505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pilot ministries and a defined pilot scope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0" y="29992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 (approved) reference data - ministries, departments, users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0" y="35478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user acceptance testing with real OPSC and ministry staff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3680" y="40965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rollout plan for pilot participants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0" y="46451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sign-off on go-live readiness criteria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 roadmap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8653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trigger → condition → action builder across submissions, cases, meetings, and tasks. Awaiting build approval.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366760" y="202996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9" name="Text 6"/>
          <p:cNvSpPr/>
          <p:nvPr/>
        </p:nvSpPr>
        <p:spPr>
          <a:xfrm>
            <a:off x="8366760" y="2029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807208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2935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Reporting Engine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33101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report catalog plus ad-hoc natural-language reports, ready for migration and rollout.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66760" y="3099816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/>
        </p:spPr>
      </p:sp>
      <p:sp>
        <p:nvSpPr>
          <p:cNvPr id="14" name="Text 11"/>
          <p:cNvSpPr/>
          <p:nvPr/>
        </p:nvSpPr>
        <p:spPr>
          <a:xfrm>
            <a:off x="8366760" y="30998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pending deploy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877056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" y="40050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Explorer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2960" y="437997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data-exploration UI now live for the Submissions dataset.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66760" y="4169664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/>
        </p:spPr>
      </p:sp>
      <p:sp>
        <p:nvSpPr>
          <p:cNvPr id="19" name="Text 16"/>
          <p:cNvSpPr/>
          <p:nvPr/>
        </p:nvSpPr>
        <p:spPr>
          <a:xfrm>
            <a:off x="8366760" y="416966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(P1)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946904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5F3FB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2960" y="5074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Workspace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22960" y="544982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Project-board view of Commission sittings; kanban-by-stage and one-click approval still to come (P3–P4).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366760" y="523951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/>
        </p:spPr>
      </p:sp>
      <p:sp>
        <p:nvSpPr>
          <p:cNvPr id="24" name="Text 21"/>
          <p:cNvSpPr/>
          <p:nvPr/>
        </p:nvSpPr>
        <p:spPr>
          <a:xfrm>
            <a:off x="8366760" y="52395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(P1–P2)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pic>
        <p:nvPicPr>
          <p:cNvPr id="3" name="Image 1" descr="C:\Users\Herman Tevilili\AppData\Local\Temp\claude\C--Users-Herman-Tevilili-Documents-GitHub-commissionDecisionApp-v1-0\2d2d3a12-ae9e-4f4b-990a-3e1ebe47ec28\scratchpad\scdms_deck\assets\rings.png"/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10271455" y="4937760"/>
            <a:ext cx="2926080" cy="2926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path to a live pilot</a:t>
            </a:r>
            <a:endParaRPr lang="en-US" sz="2900" dirty="0"/>
          </a:p>
        </p:txBody>
      </p:sp>
      <p:sp>
        <p:nvSpPr>
          <p:cNvPr id="6" name="Shape 2"/>
          <p:cNvSpPr/>
          <p:nvPr/>
        </p:nvSpPr>
        <p:spPr>
          <a:xfrm>
            <a:off x="1005840" y="3246120"/>
            <a:ext cx="10149840" cy="0"/>
          </a:xfrm>
          <a:prstGeom prst="line">
            <a:avLst/>
          </a:prstGeom>
          <a:noFill/>
          <a:ln w="38100">
            <a:solidFill>
              <a:srgbClr val="6C5C9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04672" y="3044952"/>
            <a:ext cx="402336" cy="402336"/>
          </a:xfrm>
          <a:prstGeom prst="ellipse">
            <a:avLst/>
          </a:prstGeom>
          <a:solidFill>
            <a:srgbClr val="D9A441"/>
          </a:solidFill>
          <a:ln w="38100">
            <a:solidFill>
              <a:srgbClr val="1E0E4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4672" y="3044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sign-off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pilot scope, ministries, and success criteria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005840" y="3017520"/>
            <a:ext cx="0" cy="27432"/>
          </a:xfrm>
          <a:prstGeom prst="line">
            <a:avLst/>
          </a:prstGeom>
          <a:noFill/>
          <a:ln w="19050">
            <a:solidFill>
              <a:srgbClr val="6C5C9A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4187952" y="3044952"/>
            <a:ext cx="402336" cy="402336"/>
          </a:xfrm>
          <a:prstGeom prst="ellipse">
            <a:avLst/>
          </a:prstGeom>
          <a:solidFill>
            <a:srgbClr val="D9A441"/>
          </a:solidFill>
          <a:ln w="38100">
            <a:solidFill>
              <a:srgbClr val="1E0E4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87952" y="3044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15468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user setup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154680" y="4069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 reference data; create verified accounts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389120" y="3447288"/>
            <a:ext cx="0" cy="256032"/>
          </a:xfrm>
          <a:prstGeom prst="line">
            <a:avLst/>
          </a:prstGeom>
          <a:noFill/>
          <a:ln w="19050">
            <a:solidFill>
              <a:srgbClr val="6C5C9A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7571232" y="3044952"/>
            <a:ext cx="402336" cy="402336"/>
          </a:xfrm>
          <a:prstGeom prst="ellipse">
            <a:avLst/>
          </a:prstGeom>
          <a:solidFill>
            <a:srgbClr val="D9A441"/>
          </a:solidFill>
          <a:ln w="38100">
            <a:solidFill>
              <a:srgbClr val="1E0E4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571232" y="3044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537960" y="1828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537960" y="2194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 and ministry staff test with real workflows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772400" y="3017520"/>
            <a:ext cx="0" cy="27432"/>
          </a:xfrm>
          <a:prstGeom prst="line">
            <a:avLst/>
          </a:prstGeom>
          <a:noFill/>
          <a:ln w="19050">
            <a:solidFill>
              <a:srgbClr val="6C5C9A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10954512" y="3044952"/>
            <a:ext cx="402336" cy="402336"/>
          </a:xfrm>
          <a:prstGeom prst="ellipse">
            <a:avLst/>
          </a:prstGeom>
          <a:solidFill>
            <a:srgbClr val="D9A441"/>
          </a:solidFill>
          <a:ln w="38100">
            <a:solidFill>
              <a:srgbClr val="1E0E4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954512" y="3044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174175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go-live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174175" y="4069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pilot ministries with support in place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11155680" y="3447288"/>
            <a:ext cx="0" cy="256032"/>
          </a:xfrm>
          <a:prstGeom prst="line">
            <a:avLst/>
          </a:prstGeom>
          <a:noFill/>
          <a:ln w="19050">
            <a:solidFill>
              <a:srgbClr val="6C5C9A"/>
            </a:solidFill>
            <a:prstDash val="dash"/>
          </a:ln>
        </p:spPr>
      </p:sp>
      <p:sp>
        <p:nvSpPr>
          <p:cNvPr id="27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457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691640" y="777240"/>
            <a:ext cx="9951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of the Committee today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BF3E4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0100" y="198882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" y="19888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7360" y="19842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pilot approach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move from internal testing to a defined, scoped pilot phase.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7830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BF3E4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77940" y="198882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9"/>
          <p:cNvSpPr/>
          <p:nvPr/>
        </p:nvSpPr>
        <p:spPr>
          <a:xfrm>
            <a:off x="6377940" y="19888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0" y="19842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pilot ministries/departments/units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446520" y="28346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the ministries / units to participate in the first pilot cohort.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8404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BF3E4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0100" y="404622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" y="40462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737360" y="40416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 &amp; user readiness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68680" y="48920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provisioning real reference data and verified user accounts for pilot participants.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26480" y="38404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BF3E4"/>
          </a:solidFill>
          <a:ln/>
          <a:effectLst>
            <a:outerShdw blurRad="127000" dist="38100" dir="5400000" algn="bl" rotWithShape="0">
              <a:srgbClr val="1B0B3E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77940" y="4046220"/>
            <a:ext cx="594360" cy="5943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19"/>
          <p:cNvSpPr/>
          <p:nvPr/>
        </p:nvSpPr>
        <p:spPr>
          <a:xfrm>
            <a:off x="6377940" y="40462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315200" y="40416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0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review checkpoint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446520" y="48920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date for the Committee to review pilot results before wider rollout.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- Submission &amp; Commission Decision Management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erman Tevilili\AppData\Local\Temp\claude\C--Users-Herman-Tevilili-Documents-GitHub-commissionDecisionApp-v1-0\2d2d3a12-ae9e-4f4b-990a-3e1ebe47ec28\scratchpad\scdms_deck\assets\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pic>
        <p:nvPicPr>
          <p:cNvPr id="3" name="Image 1" descr="C:\Users\Herman Tevilili\AppData\Local\Temp\claude\C--Users-Herman-Tevilili-Documents-GitHub-commissionDecisionApp-v1-0\2d2d3a12-ae9e-4f4b-990a-3e1ebe47ec28\scratchpad\scdms_deck\assets\crown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-914400" y="-868680"/>
            <a:ext cx="3383280" cy="2804848"/>
          </a:xfrm>
          <a:prstGeom prst="rect">
            <a:avLst/>
          </a:prstGeom>
        </p:spPr>
      </p:pic>
      <p:pic>
        <p:nvPicPr>
          <p:cNvPr id="4" name="Image 2" descr="C:\Users\Herman Tevilili\AppData\Local\Temp\claude\C--Users-Herman-Tevilili-Documents-GitHub-commissionDecisionApp-v1-0\2d2d3a12-ae9e-4f4b-990a-3e1ebe47ec28\scratchpad\scdms_deck\assets\crown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9722815" y="4921832"/>
            <a:ext cx="3383280" cy="280484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3152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1"/>
          <p:cNvSpPr/>
          <p:nvPr/>
        </p:nvSpPr>
        <p:spPr>
          <a:xfrm>
            <a:off x="73152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731520" y="5760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&amp; Technology Planning Division (IPDU)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B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Public Service Commission, Vanuatu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2071</Words>
  <Application>Microsoft Office PowerPoint</Application>
  <PresentationFormat>Widescreen</PresentationFormat>
  <Paragraphs>375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Herman Tevilili</cp:lastModifiedBy>
  <cp:revision>3</cp:revision>
  <dcterms:created xsi:type="dcterms:W3CDTF">2026-07-26T22:53:23Z</dcterms:created>
  <dcterms:modified xsi:type="dcterms:W3CDTF">2026-07-26T23:01:13Z</dcterms:modified>
</cp:coreProperties>
</file>