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45207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pic>
        <p:nvPicPr>
          <p:cNvPr id="4" name="Image 2" descr="C:\Users\Herman Tevilili\AppData\Local\Temp\claude\C--Users-Herman-Tevilili-Documents-GitHub-commissionDecisionApp-v1-0\2d2d3a12-ae9e-4f4b-990a-3e1ebe47ec28\scratchpad\scdms_deck\assets\crown.png"/>
          <p:cNvPicPr>
            <a:picLocks noChangeAspect="1"/>
          </p:cNvPicPr>
          <p:nvPr/>
        </p:nvPicPr>
        <p:blipFill>
          <a:blip r:embed="rId4">
            <a:alphaModFix amt="92000"/>
          </a:blip>
          <a:stretch>
            <a:fillRect/>
          </a:stretch>
        </p:blipFill>
        <p:spPr>
          <a:xfrm>
            <a:off x="9722815" y="4921832"/>
            <a:ext cx="3383280" cy="2804848"/>
          </a:xfrm>
          <a:prstGeom prst="rect">
            <a:avLst/>
          </a:prstGeom>
        </p:spPr>
      </p:pic>
      <p:sp>
        <p:nvSpPr>
          <p:cNvPr id="5" name="Text 0"/>
          <p:cNvSpPr/>
          <p:nvPr/>
        </p:nvSpPr>
        <p:spPr>
          <a:xfrm>
            <a:off x="731520" y="1600200"/>
            <a:ext cx="9601200" cy="365760"/>
          </a:xfrm>
          <a:prstGeom prst="rect">
            <a:avLst/>
          </a:prstGeom>
          <a:noFill/>
          <a:ln/>
        </p:spPr>
        <p:txBody>
          <a:bodyPr wrap="square" rtlCol="0" anchor="ctr"/>
          <a:lstStyle/>
          <a:p>
            <a:pPr marL="0" indent="0">
              <a:buNone/>
            </a:pPr>
            <a:r>
              <a:rPr lang="en-US" sz="1300" b="1" kern="0" spc="200" dirty="0">
                <a:solidFill>
                  <a:srgbClr val="D9A441"/>
                </a:solidFill>
                <a:latin typeface="Calibri" pitchFamily="34" charset="0"/>
                <a:ea typeface="Calibri" pitchFamily="34" charset="-122"/>
                <a:cs typeface="Calibri" pitchFamily="34" charset="-120"/>
              </a:rPr>
              <a:t>OFFICE OF THE PUBLIC SERVICE COMMISSION  ·  VANUATU</a:t>
            </a:r>
            <a:endParaRPr lang="en-US" sz="1300" dirty="0"/>
          </a:p>
        </p:txBody>
      </p:sp>
      <p:sp>
        <p:nvSpPr>
          <p:cNvPr id="6" name="Text 1"/>
          <p:cNvSpPr/>
          <p:nvPr/>
        </p:nvSpPr>
        <p:spPr>
          <a:xfrm>
            <a:off x="731520" y="2148840"/>
            <a:ext cx="9144000" cy="1188720"/>
          </a:xfrm>
          <a:prstGeom prst="rect">
            <a:avLst/>
          </a:prstGeom>
          <a:noFill/>
          <a:ln/>
        </p:spPr>
        <p:txBody>
          <a:bodyPr wrap="square" rtlCol="0" anchor="ctr"/>
          <a:lstStyle/>
          <a:p>
            <a:pPr marL="0" indent="0">
              <a:buNone/>
            </a:pPr>
            <a:r>
              <a:rPr lang="en-US" sz="5800" b="1" dirty="0">
                <a:solidFill>
                  <a:srgbClr val="FFFFFF"/>
                </a:solidFill>
                <a:latin typeface="Cambria" pitchFamily="34" charset="0"/>
                <a:ea typeface="Cambria" pitchFamily="34" charset="-122"/>
                <a:cs typeface="Cambria" pitchFamily="34" charset="-120"/>
              </a:rPr>
              <a:t>SCDMS</a:t>
            </a:r>
            <a:endParaRPr lang="en-US" sz="5800" dirty="0"/>
          </a:p>
        </p:txBody>
      </p:sp>
      <p:sp>
        <p:nvSpPr>
          <p:cNvPr id="7" name="Text 2"/>
          <p:cNvSpPr/>
          <p:nvPr/>
        </p:nvSpPr>
        <p:spPr>
          <a:xfrm>
            <a:off x="731520" y="3246120"/>
            <a:ext cx="9875520" cy="548640"/>
          </a:xfrm>
          <a:prstGeom prst="rect">
            <a:avLst/>
          </a:prstGeom>
          <a:noFill/>
          <a:ln/>
        </p:spPr>
        <p:txBody>
          <a:bodyPr wrap="square" rtlCol="0" anchor="ctr"/>
          <a:lstStyle/>
          <a:p>
            <a:pPr marL="0" indent="0">
              <a:buNone/>
            </a:pPr>
            <a:r>
              <a:rPr lang="en-US" sz="2000" dirty="0">
                <a:solidFill>
                  <a:srgbClr val="EDE8F7"/>
                </a:solidFill>
                <a:latin typeface="Calibri" pitchFamily="34" charset="0"/>
                <a:ea typeface="Calibri" pitchFamily="34" charset="-122"/>
                <a:cs typeface="Calibri" pitchFamily="34" charset="-120"/>
              </a:rPr>
              <a:t>Submission &amp; Commission Decision Management System</a:t>
            </a:r>
            <a:endParaRPr lang="en-US" sz="2000" dirty="0"/>
          </a:p>
        </p:txBody>
      </p:sp>
      <p:sp>
        <p:nvSpPr>
          <p:cNvPr id="8" name="Text 3"/>
          <p:cNvSpPr/>
          <p:nvPr/>
        </p:nvSpPr>
        <p:spPr>
          <a:xfrm>
            <a:off x="731520" y="4069080"/>
            <a:ext cx="9875520" cy="457200"/>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Progress Update to the OPSC Management Committee</a:t>
            </a:r>
            <a:endParaRPr lang="en-US" sz="1600" dirty="0"/>
          </a:p>
        </p:txBody>
      </p:sp>
      <p:sp>
        <p:nvSpPr>
          <p:cNvPr id="9" name="Text 4"/>
          <p:cNvSpPr/>
          <p:nvPr/>
        </p:nvSpPr>
        <p:spPr>
          <a:xfrm>
            <a:off x="731520" y="4526280"/>
            <a:ext cx="9875520" cy="365760"/>
          </a:xfrm>
          <a:prstGeom prst="rect">
            <a:avLst/>
          </a:prstGeom>
          <a:noFill/>
          <a:ln/>
        </p:spPr>
        <p:txBody>
          <a:bodyPr wrap="square" rtlCol="0" anchor="ctr"/>
          <a:lstStyle/>
          <a:p>
            <a:pPr marL="0" indent="0">
              <a:buNone/>
            </a:pPr>
            <a:r>
              <a:rPr lang="en-US" sz="1300" dirty="0">
                <a:solidFill>
                  <a:srgbClr val="CBBFE6"/>
                </a:solidFill>
                <a:latin typeface="Calibri" pitchFamily="34" charset="0"/>
                <a:ea typeface="Calibri" pitchFamily="34" charset="-122"/>
                <a:cs typeface="Calibri" pitchFamily="34" charset="-120"/>
              </a:rPr>
              <a:t>Presented by: Information &amp; Technology Planning Division (IPDU)  |  July 2026</a:t>
            </a:r>
            <a:endParaRPr lang="en-US" sz="1300" dirty="0"/>
          </a:p>
        </p:txBody>
      </p:sp>
      <p:sp>
        <p:nvSpPr>
          <p:cNvPr id="10" name="Text 5"/>
          <p:cNvSpPr/>
          <p:nvPr/>
        </p:nvSpPr>
        <p:spPr>
          <a:xfrm>
            <a:off x="731520" y="5989320"/>
            <a:ext cx="10515600" cy="365760"/>
          </a:xfrm>
          <a:prstGeom prst="rect">
            <a:avLst/>
          </a:prstGeom>
          <a:noFill/>
          <a:ln/>
        </p:spPr>
        <p:txBody>
          <a:bodyPr wrap="square" rtlCol="0" anchor="ctr"/>
          <a:lstStyle/>
          <a:p>
            <a:pPr marL="0" indent="0">
              <a:buNone/>
            </a:pPr>
            <a:r>
              <a:rPr lang="en-US" sz="1200" i="1" dirty="0">
                <a:solidFill>
                  <a:srgbClr val="CBBFE6"/>
                </a:solidFill>
                <a:latin typeface="Calibri" pitchFamily="34" charset="0"/>
                <a:ea typeface="Calibri" pitchFamily="34" charset="-122"/>
                <a:cs typeface="Calibri" pitchFamily="34" charset="-120"/>
              </a:rPr>
              <a:t>Status: In development &amp; internal testing  ·  Dummy/seed data only  ·  Not yet a live pilot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AGENDA</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What we'll cover today</a:t>
            </a:r>
            <a:endParaRPr lang="en-US" sz="2900" dirty="0"/>
          </a:p>
        </p:txBody>
      </p:sp>
      <p:sp>
        <p:nvSpPr>
          <p:cNvPr id="5" name="Shape 2"/>
          <p:cNvSpPr/>
          <p:nvPr/>
        </p:nvSpPr>
        <p:spPr>
          <a:xfrm>
            <a:off x="548640" y="178308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777240" y="192024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01</a:t>
            </a:r>
            <a:endParaRPr lang="en-US" sz="3200" dirty="0"/>
          </a:p>
        </p:txBody>
      </p:sp>
      <p:sp>
        <p:nvSpPr>
          <p:cNvPr id="7" name="Text 4"/>
          <p:cNvSpPr/>
          <p:nvPr/>
        </p:nvSpPr>
        <p:spPr>
          <a:xfrm>
            <a:off x="1737360" y="194767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Why SCDMS</a:t>
            </a:r>
            <a:endParaRPr lang="en-US" sz="1450" dirty="0"/>
          </a:p>
        </p:txBody>
      </p:sp>
      <p:sp>
        <p:nvSpPr>
          <p:cNvPr id="8" name="Text 5"/>
          <p:cNvSpPr/>
          <p:nvPr/>
        </p:nvSpPr>
        <p:spPr>
          <a:xfrm>
            <a:off x="1737360" y="235915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The problem it solves and its mandate</a:t>
            </a:r>
            <a:endParaRPr lang="en-US" sz="1100" dirty="0"/>
          </a:p>
        </p:txBody>
      </p:sp>
      <p:sp>
        <p:nvSpPr>
          <p:cNvPr id="9" name="Shape 6"/>
          <p:cNvSpPr/>
          <p:nvPr/>
        </p:nvSpPr>
        <p:spPr>
          <a:xfrm>
            <a:off x="6126480" y="178308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10" name="Text 7"/>
          <p:cNvSpPr/>
          <p:nvPr/>
        </p:nvSpPr>
        <p:spPr>
          <a:xfrm>
            <a:off x="6355080" y="192024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02</a:t>
            </a:r>
            <a:endParaRPr lang="en-US" sz="3200" dirty="0"/>
          </a:p>
        </p:txBody>
      </p:sp>
      <p:sp>
        <p:nvSpPr>
          <p:cNvPr id="11" name="Text 8"/>
          <p:cNvSpPr/>
          <p:nvPr/>
        </p:nvSpPr>
        <p:spPr>
          <a:xfrm>
            <a:off x="7315200" y="194767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 SCDMS is - and isn't</a:t>
            </a:r>
            <a:endParaRPr lang="en-US" sz="1450" dirty="0"/>
          </a:p>
        </p:txBody>
      </p:sp>
      <p:sp>
        <p:nvSpPr>
          <p:cNvPr id="12" name="Text 9"/>
          <p:cNvSpPr/>
          <p:nvPr/>
        </p:nvSpPr>
        <p:spPr>
          <a:xfrm>
            <a:off x="7315200" y="235915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Scope boundary vs. HRMIS and other systems</a:t>
            </a:r>
            <a:endParaRPr lang="en-US" sz="1100" dirty="0"/>
          </a:p>
        </p:txBody>
      </p:sp>
      <p:sp>
        <p:nvSpPr>
          <p:cNvPr id="13" name="Shape 10"/>
          <p:cNvSpPr/>
          <p:nvPr/>
        </p:nvSpPr>
        <p:spPr>
          <a:xfrm>
            <a:off x="548640" y="329184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14" name="Text 11"/>
          <p:cNvSpPr/>
          <p:nvPr/>
        </p:nvSpPr>
        <p:spPr>
          <a:xfrm>
            <a:off x="777240" y="342900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03</a:t>
            </a:r>
            <a:endParaRPr lang="en-US" sz="3200" dirty="0"/>
          </a:p>
        </p:txBody>
      </p:sp>
      <p:sp>
        <p:nvSpPr>
          <p:cNvPr id="15" name="Text 12"/>
          <p:cNvSpPr/>
          <p:nvPr/>
        </p:nvSpPr>
        <p:spPr>
          <a:xfrm>
            <a:off x="1737360" y="345643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 has been built</a:t>
            </a:r>
            <a:endParaRPr lang="en-US" sz="1450" dirty="0"/>
          </a:p>
        </p:txBody>
      </p:sp>
      <p:sp>
        <p:nvSpPr>
          <p:cNvPr id="16" name="Text 13"/>
          <p:cNvSpPr/>
          <p:nvPr/>
        </p:nvSpPr>
        <p:spPr>
          <a:xfrm>
            <a:off x="1737360" y="386791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Workflow, roles, secretariat tools, security, AI, reporting</a:t>
            </a:r>
            <a:endParaRPr lang="en-US" sz="1100" dirty="0"/>
          </a:p>
        </p:txBody>
      </p:sp>
      <p:sp>
        <p:nvSpPr>
          <p:cNvPr id="17" name="Shape 14"/>
          <p:cNvSpPr/>
          <p:nvPr/>
        </p:nvSpPr>
        <p:spPr>
          <a:xfrm>
            <a:off x="6126480" y="329184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18" name="Text 15"/>
          <p:cNvSpPr/>
          <p:nvPr/>
        </p:nvSpPr>
        <p:spPr>
          <a:xfrm>
            <a:off x="6355080" y="342900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04</a:t>
            </a:r>
            <a:endParaRPr lang="en-US" sz="3200" dirty="0"/>
          </a:p>
        </p:txBody>
      </p:sp>
      <p:sp>
        <p:nvSpPr>
          <p:cNvPr id="19" name="Text 16"/>
          <p:cNvSpPr/>
          <p:nvPr/>
        </p:nvSpPr>
        <p:spPr>
          <a:xfrm>
            <a:off x="7315200" y="345643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Where we are today</a:t>
            </a:r>
            <a:endParaRPr lang="en-US" sz="1450" dirty="0"/>
          </a:p>
        </p:txBody>
      </p:sp>
      <p:sp>
        <p:nvSpPr>
          <p:cNvPr id="20" name="Text 17"/>
          <p:cNvSpPr/>
          <p:nvPr/>
        </p:nvSpPr>
        <p:spPr>
          <a:xfrm>
            <a:off x="7315200" y="386791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Development status - built and under internal testing</a:t>
            </a:r>
            <a:endParaRPr lang="en-US" sz="1100" dirty="0"/>
          </a:p>
        </p:txBody>
      </p:sp>
      <p:sp>
        <p:nvSpPr>
          <p:cNvPr id="21" name="Shape 18"/>
          <p:cNvSpPr/>
          <p:nvPr/>
        </p:nvSpPr>
        <p:spPr>
          <a:xfrm>
            <a:off x="548640" y="480060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22" name="Text 19"/>
          <p:cNvSpPr/>
          <p:nvPr/>
        </p:nvSpPr>
        <p:spPr>
          <a:xfrm>
            <a:off x="777240" y="493776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05</a:t>
            </a:r>
            <a:endParaRPr lang="en-US" sz="3200" dirty="0"/>
          </a:p>
        </p:txBody>
      </p:sp>
      <p:sp>
        <p:nvSpPr>
          <p:cNvPr id="23" name="Text 20"/>
          <p:cNvSpPr/>
          <p:nvPr/>
        </p:nvSpPr>
        <p:spPr>
          <a:xfrm>
            <a:off x="1737360" y="496519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What's next</a:t>
            </a:r>
            <a:endParaRPr lang="en-US" sz="1450" dirty="0"/>
          </a:p>
        </p:txBody>
      </p:sp>
      <p:sp>
        <p:nvSpPr>
          <p:cNvPr id="24" name="Text 21"/>
          <p:cNvSpPr/>
          <p:nvPr/>
        </p:nvSpPr>
        <p:spPr>
          <a:xfrm>
            <a:off x="1737360" y="537667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Near-term roadmap and the path to a live pilot</a:t>
            </a:r>
            <a:endParaRPr lang="en-US" sz="1100" dirty="0"/>
          </a:p>
        </p:txBody>
      </p:sp>
      <p:sp>
        <p:nvSpPr>
          <p:cNvPr id="25" name="Shape 22"/>
          <p:cNvSpPr/>
          <p:nvPr/>
        </p:nvSpPr>
        <p:spPr>
          <a:xfrm>
            <a:off x="6126480" y="480060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26" name="Text 23"/>
          <p:cNvSpPr/>
          <p:nvPr/>
        </p:nvSpPr>
        <p:spPr>
          <a:xfrm>
            <a:off x="6355080" y="493776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06</a:t>
            </a:r>
            <a:endParaRPr lang="en-US" sz="3200" dirty="0"/>
          </a:p>
        </p:txBody>
      </p:sp>
      <p:sp>
        <p:nvSpPr>
          <p:cNvPr id="27" name="Text 24"/>
          <p:cNvSpPr/>
          <p:nvPr/>
        </p:nvSpPr>
        <p:spPr>
          <a:xfrm>
            <a:off x="7315200" y="496519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 we need from the Committee</a:t>
            </a:r>
            <a:endParaRPr lang="en-US" sz="1450" dirty="0"/>
          </a:p>
        </p:txBody>
      </p:sp>
      <p:sp>
        <p:nvSpPr>
          <p:cNvPr id="28" name="Text 25"/>
          <p:cNvSpPr/>
          <p:nvPr/>
        </p:nvSpPr>
        <p:spPr>
          <a:xfrm>
            <a:off x="7315200" y="537667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Decisions to keep momentum</a:t>
            </a:r>
            <a:endParaRPr lang="en-US" sz="1100" dirty="0"/>
          </a:p>
        </p:txBody>
      </p:sp>
      <p:sp>
        <p:nvSpPr>
          <p:cNvPr id="29" name="Text 26"/>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0" name="Text 27"/>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THE MANDATE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Why SCDMS exists</a:t>
            </a:r>
            <a:endParaRPr lang="en-US" sz="2900" dirty="0"/>
          </a:p>
        </p:txBody>
      </p:sp>
      <p:sp>
        <p:nvSpPr>
          <p:cNvPr id="5" name="Text 2"/>
          <p:cNvSpPr/>
          <p:nvPr/>
        </p:nvSpPr>
        <p:spPr>
          <a:xfrm>
            <a:off x="1691640" y="1691640"/>
            <a:ext cx="5852160" cy="1828800"/>
          </a:xfrm>
          <a:prstGeom prst="rect">
            <a:avLst/>
          </a:prstGeom>
          <a:noFill/>
          <a:ln/>
        </p:spPr>
        <p:txBody>
          <a:bodyPr wrap="square" rtlCol="0" anchor="ctr"/>
          <a:lstStyle/>
          <a:p>
            <a:pPr marL="0" indent="0">
              <a:lnSpc>
                <a:spcPct val="125000"/>
              </a:lnSpc>
              <a:buNone/>
            </a:pPr>
            <a:r>
              <a:rPr lang="en-US" sz="1350" dirty="0">
                <a:solidFill>
                  <a:srgbClr val="EDE8F7"/>
                </a:solidFill>
                <a:latin typeface="Calibri" pitchFamily="34" charset="0"/>
                <a:ea typeface="Calibri" pitchFamily="34" charset="-122"/>
                <a:cs typeface="Calibri" pitchFamily="34" charset="-120"/>
              </a:rPr>
              <a:t>The Public Service Commission decides on personnel and related matters under the Public Service Act. Before SCDMS, that lifecycle ran across paper forms, email threads, and disconnected registers - making it hard to track a matter, enforce statutory deadlines, or report reliably to Commission.</a:t>
            </a:r>
            <a:endParaRPr lang="en-US" sz="1350" dirty="0"/>
          </a:p>
        </p:txBody>
      </p:sp>
      <p:sp>
        <p:nvSpPr>
          <p:cNvPr id="6" name="Shape 3"/>
          <p:cNvSpPr/>
          <p:nvPr/>
        </p:nvSpPr>
        <p:spPr>
          <a:xfrm>
            <a:off x="1691640" y="3566160"/>
            <a:ext cx="5852160" cy="2606040"/>
          </a:xfrm>
          <a:prstGeom prst="roundRect">
            <a:avLst>
              <a:gd name="adj" fmla="val 3158"/>
            </a:avLst>
          </a:prstGeom>
          <a:solidFill>
            <a:srgbClr val="1E0E42"/>
          </a:solidFill>
          <a:ln/>
          <a:effectLst>
            <a:outerShdw blurRad="127000" dist="38100" dir="5400000" algn="bl" rotWithShape="0">
              <a:srgbClr val="1B0B3E">
                <a:alpha val="35000"/>
              </a:srgbClr>
            </a:outerShdw>
          </a:effectLst>
        </p:spPr>
      </p:sp>
      <p:sp>
        <p:nvSpPr>
          <p:cNvPr id="7" name="Text 4"/>
          <p:cNvSpPr/>
          <p:nvPr/>
        </p:nvSpPr>
        <p:spPr>
          <a:xfrm>
            <a:off x="2011680" y="3767328"/>
            <a:ext cx="5212080" cy="365760"/>
          </a:xfrm>
          <a:prstGeom prst="rect">
            <a:avLst/>
          </a:prstGeom>
          <a:noFill/>
          <a:ln/>
        </p:spPr>
        <p:txBody>
          <a:bodyPr wrap="square" rtlCol="0" anchor="ctr"/>
          <a:lstStyle/>
          <a:p>
            <a:pPr marL="0" indent="0">
              <a:buNone/>
            </a:pPr>
            <a:r>
              <a:rPr lang="en-US" sz="1300" b="1" dirty="0">
                <a:solidFill>
                  <a:srgbClr val="D9A441"/>
                </a:solidFill>
                <a:latin typeface="Calibri" pitchFamily="34" charset="0"/>
                <a:ea typeface="Calibri" pitchFamily="34" charset="-122"/>
                <a:cs typeface="Calibri" pitchFamily="34" charset="-120"/>
              </a:rPr>
              <a:t>The problem, before SCDMS</a:t>
            </a:r>
            <a:endParaRPr lang="en-US" sz="1300" dirty="0"/>
          </a:p>
        </p:txBody>
      </p:sp>
      <p:sp>
        <p:nvSpPr>
          <p:cNvPr id="8" name="Text 5"/>
          <p:cNvSpPr/>
          <p:nvPr/>
        </p:nvSpPr>
        <p:spPr>
          <a:xfrm>
            <a:off x="2011680" y="4224528"/>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No single record of where a submission sits, or who holds it</a:t>
            </a:r>
            <a:endParaRPr lang="en-US" sz="1200" dirty="0"/>
          </a:p>
        </p:txBody>
      </p:sp>
      <p:sp>
        <p:nvSpPr>
          <p:cNvPr id="9" name="Text 6"/>
          <p:cNvSpPr/>
          <p:nvPr/>
        </p:nvSpPr>
        <p:spPr>
          <a:xfrm>
            <a:off x="2011680" y="4700016"/>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Statutory working-day deadlines tracked manually, if at all</a:t>
            </a:r>
            <a:endParaRPr lang="en-US" sz="1200" dirty="0"/>
          </a:p>
        </p:txBody>
      </p:sp>
      <p:sp>
        <p:nvSpPr>
          <p:cNvPr id="10" name="Text 7"/>
          <p:cNvSpPr/>
          <p:nvPr/>
        </p:nvSpPr>
        <p:spPr>
          <a:xfrm>
            <a:off x="2011680" y="5175504"/>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Commission minutes and decisions not searchable or auditable</a:t>
            </a:r>
            <a:endParaRPr lang="en-US" sz="1200" dirty="0"/>
          </a:p>
        </p:txBody>
      </p:sp>
      <p:sp>
        <p:nvSpPr>
          <p:cNvPr id="11" name="Text 8"/>
          <p:cNvSpPr/>
          <p:nvPr/>
        </p:nvSpPr>
        <p:spPr>
          <a:xfrm>
            <a:off x="2011680" y="5650992"/>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No visibility into post-decision implementation status</a:t>
            </a:r>
            <a:endParaRPr lang="en-US" sz="1200" dirty="0"/>
          </a:p>
        </p:txBody>
      </p:sp>
      <p:sp>
        <p:nvSpPr>
          <p:cNvPr id="12" name="Shape 9"/>
          <p:cNvSpPr/>
          <p:nvPr/>
        </p:nvSpPr>
        <p:spPr>
          <a:xfrm>
            <a:off x="7818120" y="1691640"/>
            <a:ext cx="3840480" cy="4480560"/>
          </a:xfrm>
          <a:prstGeom prst="roundRect">
            <a:avLst>
              <a:gd name="adj" fmla="val 2143"/>
            </a:avLst>
          </a:prstGeom>
          <a:solidFill>
            <a:srgbClr val="F5F3FB"/>
          </a:solidFill>
          <a:ln/>
          <a:effectLst>
            <a:outerShdw blurRad="127000" dist="38100" dir="5400000" algn="bl" rotWithShape="0">
              <a:srgbClr val="1B0B3E">
                <a:alpha val="35000"/>
              </a:srgbClr>
            </a:outerShdw>
          </a:effectLst>
        </p:spPr>
      </p:sp>
      <p:sp>
        <p:nvSpPr>
          <p:cNvPr id="13" name="Text 10"/>
          <p:cNvSpPr/>
          <p:nvPr/>
        </p:nvSpPr>
        <p:spPr>
          <a:xfrm>
            <a:off x="8092440" y="1938528"/>
            <a:ext cx="32918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SCDMS, in one line</a:t>
            </a:r>
            <a:endParaRPr lang="en-US" sz="1300" dirty="0"/>
          </a:p>
        </p:txBody>
      </p:sp>
      <p:sp>
        <p:nvSpPr>
          <p:cNvPr id="14" name="Shape 11"/>
          <p:cNvSpPr/>
          <p:nvPr/>
        </p:nvSpPr>
        <p:spPr>
          <a:xfrm>
            <a:off x="8092440" y="2331720"/>
            <a:ext cx="3291840" cy="0"/>
          </a:xfrm>
          <a:prstGeom prst="line">
            <a:avLst/>
          </a:prstGeom>
          <a:noFill/>
          <a:ln w="12700">
            <a:solidFill>
              <a:srgbClr val="DCD3EE"/>
            </a:solidFill>
            <a:prstDash val="solid"/>
          </a:ln>
        </p:spPr>
      </p:sp>
      <p:sp>
        <p:nvSpPr>
          <p:cNvPr id="15" name="Text 12"/>
          <p:cNvSpPr/>
          <p:nvPr/>
        </p:nvSpPr>
        <p:spPr>
          <a:xfrm>
            <a:off x="8092440" y="2560320"/>
            <a:ext cx="3291840" cy="1463040"/>
          </a:xfrm>
          <a:prstGeom prst="rect">
            <a:avLst/>
          </a:prstGeom>
          <a:noFill/>
          <a:ln/>
        </p:spPr>
        <p:txBody>
          <a:bodyPr wrap="square" rtlCol="0" anchor="ctr"/>
          <a:lstStyle/>
          <a:p>
            <a:pPr marL="0" indent="0">
              <a:lnSpc>
                <a:spcPct val="130000"/>
              </a:lnSpc>
              <a:buNone/>
            </a:pPr>
            <a:r>
              <a:rPr lang="en-US" sz="1600" i="1" dirty="0">
                <a:solidFill>
                  <a:srgbClr val="2C0F5E"/>
                </a:solidFill>
                <a:latin typeface="Cambria" pitchFamily="34" charset="0"/>
                <a:ea typeface="Cambria" pitchFamily="34" charset="-122"/>
                <a:cs typeface="Cambria" pitchFamily="34" charset="-120"/>
              </a:rPr>
              <a:t>From a matter being submitted to the PSC, through Commission decision, to implementation being tracked.</a:t>
            </a:r>
            <a:endParaRPr lang="en-US" sz="1600" dirty="0"/>
          </a:p>
        </p:txBody>
      </p:sp>
      <p:sp>
        <p:nvSpPr>
          <p:cNvPr id="16" name="Text 13"/>
          <p:cNvSpPr/>
          <p:nvPr/>
        </p:nvSpPr>
        <p:spPr>
          <a:xfrm>
            <a:off x="8092440" y="4206240"/>
            <a:ext cx="3291840" cy="1737360"/>
          </a:xfrm>
          <a:prstGeom prst="rect">
            <a:avLst/>
          </a:prstGeom>
          <a:noFill/>
          <a:ln/>
        </p:spPr>
        <p:txBody>
          <a:bodyPr wrap="square" rtlCol="0" anchor="ctr"/>
          <a:lstStyle/>
          <a:p>
            <a:pPr marL="0" indent="0">
              <a:lnSpc>
                <a:spcPct val="130000"/>
              </a:lnSpc>
              <a:buNone/>
            </a:pPr>
            <a:r>
              <a:rPr lang="en-US" sz="1150" dirty="0">
                <a:solidFill>
                  <a:srgbClr val="5C5470"/>
                </a:solidFill>
                <a:latin typeface="Calibri" pitchFamily="34" charset="0"/>
                <a:ea typeface="Calibri" pitchFamily="34" charset="-122"/>
                <a:cs typeface="Calibri" pitchFamily="34" charset="-120"/>
              </a:rPr>
              <a:t>Not: managing an employee's entire career (that remains HRMIS / establishment systems - see next slide).</a:t>
            </a:r>
            <a:endParaRPr lang="en-US" sz="1150" dirty="0"/>
          </a:p>
        </p:txBody>
      </p:sp>
      <p:sp>
        <p:nvSpPr>
          <p:cNvPr id="17" name="Text 14"/>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18" name="Text 15"/>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SCOPE &amp; BOUNDARIES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SCDMS in the systems landscape</a:t>
            </a:r>
            <a:endParaRPr lang="en-US" sz="2900" dirty="0"/>
          </a:p>
        </p:txBody>
      </p:sp>
      <p:sp>
        <p:nvSpPr>
          <p:cNvPr id="5" name="Text 2"/>
          <p:cNvSpPr/>
          <p:nvPr/>
        </p:nvSpPr>
        <p:spPr>
          <a:xfrm>
            <a:off x="1691640" y="1417320"/>
            <a:ext cx="9875520" cy="365760"/>
          </a:xfrm>
          <a:prstGeom prst="rect">
            <a:avLst/>
          </a:prstGeom>
          <a:noFill/>
          <a:ln/>
        </p:spPr>
        <p:txBody>
          <a:bodyPr wrap="square" rtlCol="0" anchor="ctr"/>
          <a:lstStyle/>
          <a:p>
            <a:pPr marL="0" indent="0">
              <a:buNone/>
            </a:pPr>
            <a:r>
              <a:rPr lang="en-US" sz="1300" dirty="0">
                <a:solidFill>
                  <a:srgbClr val="CBBFE6"/>
                </a:solidFill>
                <a:latin typeface="Calibri" pitchFamily="34" charset="0"/>
                <a:ea typeface="Calibri" pitchFamily="34" charset="-122"/>
                <a:cs typeface="Calibri" pitchFamily="34" charset="-120"/>
              </a:rPr>
              <a:t>Deliberately scoped to avoid duplicating HRMIS, payroll, or other enterprise systems.</a:t>
            </a:r>
            <a:endParaRPr lang="en-US" sz="1300" dirty="0"/>
          </a:p>
        </p:txBody>
      </p:sp>
      <p:sp>
        <p:nvSpPr>
          <p:cNvPr id="6" name="Shape 3"/>
          <p:cNvSpPr/>
          <p:nvPr/>
        </p:nvSpPr>
        <p:spPr>
          <a:xfrm>
            <a:off x="548640" y="2148840"/>
            <a:ext cx="3063240" cy="2377440"/>
          </a:xfrm>
          <a:prstGeom prst="roundRect">
            <a:avLst>
              <a:gd name="adj" fmla="val 3462"/>
            </a:avLst>
          </a:prstGeom>
          <a:solidFill>
            <a:srgbClr val="F5F3FB"/>
          </a:solidFill>
          <a:ln/>
          <a:effectLst>
            <a:outerShdw blurRad="127000" dist="38100" dir="5400000" algn="bl" rotWithShape="0">
              <a:srgbClr val="1B0B3E">
                <a:alpha val="35000"/>
              </a:srgbClr>
            </a:outerShdw>
          </a:effectLst>
        </p:spPr>
      </p:sp>
      <p:sp>
        <p:nvSpPr>
          <p:cNvPr id="7" name="Text 4"/>
          <p:cNvSpPr/>
          <p:nvPr/>
        </p:nvSpPr>
        <p:spPr>
          <a:xfrm>
            <a:off x="777240" y="2404872"/>
            <a:ext cx="2606040" cy="457200"/>
          </a:xfrm>
          <a:prstGeom prst="rect">
            <a:avLst/>
          </a:prstGeom>
          <a:noFill/>
          <a:ln/>
        </p:spPr>
        <p:txBody>
          <a:bodyPr wrap="square" rtlCol="0" anchor="ctr"/>
          <a:lstStyle/>
          <a:p>
            <a:pPr marL="0" indent="0">
              <a:buNone/>
            </a:pPr>
            <a:r>
              <a:rPr lang="en-US" sz="1900" b="1" dirty="0">
                <a:solidFill>
                  <a:srgbClr val="2C0F5E"/>
                </a:solidFill>
                <a:latin typeface="Cambria" pitchFamily="34" charset="0"/>
                <a:ea typeface="Cambria" pitchFamily="34" charset="-122"/>
                <a:cs typeface="Cambria" pitchFamily="34" charset="-120"/>
              </a:rPr>
              <a:t>HRMIS</a:t>
            </a:r>
            <a:endParaRPr lang="en-US" sz="1900" dirty="0"/>
          </a:p>
        </p:txBody>
      </p:sp>
      <p:sp>
        <p:nvSpPr>
          <p:cNvPr id="8" name="Text 5"/>
          <p:cNvSpPr/>
          <p:nvPr/>
        </p:nvSpPr>
        <p:spPr>
          <a:xfrm>
            <a:off x="777240" y="2971800"/>
            <a:ext cx="2606040" cy="1371600"/>
          </a:xfrm>
          <a:prstGeom prst="rect">
            <a:avLst/>
          </a:prstGeom>
          <a:noFill/>
          <a:ln/>
        </p:spPr>
        <p:txBody>
          <a:bodyPr wrap="square" rtlCol="0" anchor="ctr"/>
          <a:lstStyle/>
          <a:p>
            <a:pPr marL="0" indent="0">
              <a:lnSpc>
                <a:spcPct val="125000"/>
              </a:lnSpc>
              <a:buNone/>
            </a:pPr>
            <a:r>
              <a:rPr lang="en-US" sz="1150" dirty="0">
                <a:solidFill>
                  <a:srgbClr val="5C5470"/>
                </a:solidFill>
                <a:latin typeface="Calibri" pitchFamily="34" charset="0"/>
                <a:ea typeface="Calibri" pitchFamily="34" charset="-122"/>
                <a:cs typeface="Calibri" pitchFamily="34" charset="-120"/>
              </a:rPr>
              <a:t>Employee master, positions, leave, payroll inputs, recruitment</a:t>
            </a:r>
            <a:endParaRPr lang="en-US" sz="1150" dirty="0"/>
          </a:p>
        </p:txBody>
      </p:sp>
      <p:sp>
        <p:nvSpPr>
          <p:cNvPr id="9" name="Shape 6"/>
          <p:cNvSpPr/>
          <p:nvPr/>
        </p:nvSpPr>
        <p:spPr>
          <a:xfrm>
            <a:off x="4343400" y="2148840"/>
            <a:ext cx="3063240" cy="2377440"/>
          </a:xfrm>
          <a:prstGeom prst="roundRect">
            <a:avLst>
              <a:gd name="adj" fmla="val 3462"/>
            </a:avLst>
          </a:prstGeom>
          <a:solidFill>
            <a:srgbClr val="1E0E42"/>
          </a:solidFill>
          <a:ln/>
          <a:effectLst>
            <a:outerShdw blurRad="127000" dist="38100" dir="5400000" algn="bl" rotWithShape="0">
              <a:srgbClr val="1B0B3E">
                <a:alpha val="35000"/>
              </a:srgbClr>
            </a:outerShdw>
          </a:effectLst>
        </p:spPr>
      </p:sp>
      <p:sp>
        <p:nvSpPr>
          <p:cNvPr id="10" name="Text 7"/>
          <p:cNvSpPr/>
          <p:nvPr/>
        </p:nvSpPr>
        <p:spPr>
          <a:xfrm>
            <a:off x="4572000" y="2404872"/>
            <a:ext cx="2606040" cy="457200"/>
          </a:xfrm>
          <a:prstGeom prst="rect">
            <a:avLst/>
          </a:prstGeom>
          <a:noFill/>
          <a:ln/>
        </p:spPr>
        <p:txBody>
          <a:bodyPr wrap="square"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SCDMS</a:t>
            </a:r>
            <a:endParaRPr lang="en-US" sz="1900" dirty="0"/>
          </a:p>
        </p:txBody>
      </p:sp>
      <p:sp>
        <p:nvSpPr>
          <p:cNvPr id="11" name="Text 8"/>
          <p:cNvSpPr/>
          <p:nvPr/>
        </p:nvSpPr>
        <p:spPr>
          <a:xfrm>
            <a:off x="4572000" y="2971800"/>
            <a:ext cx="2606040" cy="1371600"/>
          </a:xfrm>
          <a:prstGeom prst="rect">
            <a:avLst/>
          </a:prstGeom>
          <a:noFill/>
          <a:ln/>
        </p:spPr>
        <p:txBody>
          <a:bodyPr wrap="square" rtlCol="0" anchor="ctr"/>
          <a:lstStyle/>
          <a:p>
            <a:pPr marL="0" indent="0">
              <a:lnSpc>
                <a:spcPct val="125000"/>
              </a:lnSpc>
              <a:buNone/>
            </a:pPr>
            <a:r>
              <a:rPr lang="en-US" sz="1150" dirty="0">
                <a:solidFill>
                  <a:srgbClr val="EDE8F7"/>
                </a:solidFill>
                <a:latin typeface="Calibri" pitchFamily="34" charset="0"/>
                <a:ea typeface="Calibri" pitchFamily="34" charset="-122"/>
                <a:cs typeface="Calibri" pitchFamily="34" charset="-120"/>
              </a:rPr>
              <a:t>PSC submission workflow, assessment, Commission sittings, minutes, decision &amp; implementation tracking</a:t>
            </a:r>
            <a:endParaRPr lang="en-US" sz="1150" dirty="0"/>
          </a:p>
        </p:txBody>
      </p:sp>
      <p:sp>
        <p:nvSpPr>
          <p:cNvPr id="12" name="Shape 9"/>
          <p:cNvSpPr/>
          <p:nvPr/>
        </p:nvSpPr>
        <p:spPr>
          <a:xfrm>
            <a:off x="8595360" y="2148840"/>
            <a:ext cx="3063240" cy="2377440"/>
          </a:xfrm>
          <a:prstGeom prst="roundRect">
            <a:avLst>
              <a:gd name="adj" fmla="val 3462"/>
            </a:avLst>
          </a:prstGeom>
          <a:solidFill>
            <a:srgbClr val="F5F3FB"/>
          </a:solidFill>
          <a:ln/>
          <a:effectLst>
            <a:outerShdw blurRad="127000" dist="38100" dir="5400000" algn="bl" rotWithShape="0">
              <a:srgbClr val="1B0B3E">
                <a:alpha val="35000"/>
              </a:srgbClr>
            </a:outerShdw>
          </a:effectLst>
        </p:spPr>
      </p:sp>
      <p:sp>
        <p:nvSpPr>
          <p:cNvPr id="13" name="Text 10"/>
          <p:cNvSpPr/>
          <p:nvPr/>
        </p:nvSpPr>
        <p:spPr>
          <a:xfrm>
            <a:off x="8823960" y="2404872"/>
            <a:ext cx="2606040" cy="457200"/>
          </a:xfrm>
          <a:prstGeom prst="rect">
            <a:avLst/>
          </a:prstGeom>
          <a:noFill/>
          <a:ln/>
        </p:spPr>
        <p:txBody>
          <a:bodyPr wrap="square" rtlCol="0" anchor="ctr"/>
          <a:lstStyle/>
          <a:p>
            <a:pPr marL="0" indent="0">
              <a:buNone/>
            </a:pPr>
            <a:r>
              <a:rPr lang="en-US" sz="1900" b="1" dirty="0">
                <a:solidFill>
                  <a:srgbClr val="2C0F5E"/>
                </a:solidFill>
                <a:latin typeface="Cambria" pitchFamily="34" charset="0"/>
                <a:ea typeface="Cambria" pitchFamily="34" charset="-122"/>
                <a:cs typeface="Cambria" pitchFamily="34" charset="-120"/>
              </a:rPr>
              <a:t>CMS / Finance</a:t>
            </a:r>
            <a:endParaRPr lang="en-US" sz="1900" dirty="0"/>
          </a:p>
        </p:txBody>
      </p:sp>
      <p:sp>
        <p:nvSpPr>
          <p:cNvPr id="14" name="Text 11"/>
          <p:cNvSpPr/>
          <p:nvPr/>
        </p:nvSpPr>
        <p:spPr>
          <a:xfrm>
            <a:off x="8823960" y="2971800"/>
            <a:ext cx="2606040" cy="1371600"/>
          </a:xfrm>
          <a:prstGeom prst="rect">
            <a:avLst/>
          </a:prstGeom>
          <a:noFill/>
          <a:ln/>
        </p:spPr>
        <p:txBody>
          <a:bodyPr wrap="square" rtlCol="0" anchor="ctr"/>
          <a:lstStyle/>
          <a:p>
            <a:pPr marL="0" indent="0">
              <a:lnSpc>
                <a:spcPct val="125000"/>
              </a:lnSpc>
              <a:buNone/>
            </a:pPr>
            <a:r>
              <a:rPr lang="en-US" sz="1150" dirty="0">
                <a:solidFill>
                  <a:srgbClr val="5C5470"/>
                </a:solidFill>
                <a:latin typeface="Calibri" pitchFamily="34" charset="0"/>
                <a:ea typeface="Calibri" pitchFamily="34" charset="-122"/>
                <a:cs typeface="Calibri" pitchFamily="34" charset="-120"/>
              </a:rPr>
              <a:t>Compliance case investigation  ·  Payroll &amp; vote execution after decision</a:t>
            </a:r>
            <a:endParaRPr lang="en-US" sz="1150" dirty="0"/>
          </a:p>
        </p:txBody>
      </p:sp>
      <p:sp>
        <p:nvSpPr>
          <p:cNvPr id="15" name="Shape 12"/>
          <p:cNvSpPr/>
          <p:nvPr/>
        </p:nvSpPr>
        <p:spPr>
          <a:xfrm>
            <a:off x="3611880" y="3218688"/>
            <a:ext cx="731520" cy="237744"/>
          </a:xfrm>
          <a:prstGeom prst="rightArrow">
            <a:avLst/>
          </a:prstGeom>
          <a:solidFill>
            <a:srgbClr val="D9A441"/>
          </a:solidFill>
          <a:ln/>
        </p:spPr>
      </p:sp>
      <p:sp>
        <p:nvSpPr>
          <p:cNvPr id="16" name="Shape 13"/>
          <p:cNvSpPr/>
          <p:nvPr/>
        </p:nvSpPr>
        <p:spPr>
          <a:xfrm>
            <a:off x="7863840" y="3218688"/>
            <a:ext cx="731520" cy="237744"/>
          </a:xfrm>
          <a:prstGeom prst="rightArrow">
            <a:avLst/>
          </a:prstGeom>
          <a:solidFill>
            <a:srgbClr val="D9A441"/>
          </a:solidFill>
          <a:ln/>
        </p:spPr>
      </p:sp>
      <p:sp>
        <p:nvSpPr>
          <p:cNvPr id="17" name="Text 14"/>
          <p:cNvSpPr/>
          <p:nvPr/>
        </p:nvSpPr>
        <p:spPr>
          <a:xfrm>
            <a:off x="3246120" y="4636008"/>
            <a:ext cx="5760720" cy="320040"/>
          </a:xfrm>
          <a:prstGeom prst="rect">
            <a:avLst/>
          </a:prstGeom>
          <a:noFill/>
          <a:ln/>
        </p:spPr>
        <p:txBody>
          <a:bodyPr wrap="square" rtlCol="0" anchor="ctr"/>
          <a:lstStyle/>
          <a:p>
            <a:pPr marL="0" indent="0" algn="ctr">
              <a:buNone/>
            </a:pPr>
            <a:r>
              <a:rPr lang="en-US" sz="1050" i="1" dirty="0">
                <a:solidFill>
                  <a:srgbClr val="CBBFE6"/>
                </a:solidFill>
                <a:latin typeface="Calibri" pitchFamily="34" charset="0"/>
                <a:ea typeface="Calibri" pitchFamily="34" charset="-122"/>
                <a:cs typeface="Calibri" pitchFamily="34" charset="-120"/>
              </a:rPr>
              <a:t>hand-off points only - not continuous sync</a:t>
            </a:r>
            <a:endParaRPr lang="en-US" sz="1050" dirty="0"/>
          </a:p>
        </p:txBody>
      </p:sp>
      <p:sp>
        <p:nvSpPr>
          <p:cNvPr id="18" name="Shape 15"/>
          <p:cNvSpPr/>
          <p:nvPr/>
        </p:nvSpPr>
        <p:spPr>
          <a:xfrm>
            <a:off x="548640" y="5074920"/>
            <a:ext cx="11064240" cy="1005840"/>
          </a:xfrm>
          <a:prstGeom prst="roundRect">
            <a:avLst>
              <a:gd name="adj" fmla="val 8182"/>
            </a:avLst>
          </a:prstGeom>
          <a:solidFill>
            <a:srgbClr val="FBF3E4"/>
          </a:solidFill>
          <a:ln/>
          <a:effectLst>
            <a:outerShdw blurRad="127000" dist="38100" dir="5400000" algn="bl" rotWithShape="0">
              <a:srgbClr val="1B0B3E">
                <a:alpha val="35000"/>
              </a:srgbClr>
            </a:outerShdw>
          </a:effectLst>
        </p:spPr>
      </p:sp>
      <p:sp>
        <p:nvSpPr>
          <p:cNvPr id="19" name="Text 16"/>
          <p:cNvSpPr/>
          <p:nvPr/>
        </p:nvSpPr>
        <p:spPr>
          <a:xfrm>
            <a:off x="868680" y="5257800"/>
            <a:ext cx="10424160" cy="685800"/>
          </a:xfrm>
          <a:prstGeom prst="rect">
            <a:avLst/>
          </a:prstGeom>
          <a:noFill/>
          <a:ln/>
        </p:spPr>
        <p:txBody>
          <a:bodyPr wrap="square" rtlCol="0" anchor="ctr"/>
          <a:lstStyle/>
          <a:p>
            <a:pPr marL="0" indent="0">
              <a:lnSpc>
                <a:spcPct val="125000"/>
              </a:lnSpc>
              <a:buNone/>
            </a:pPr>
            <a:r>
              <a:rPr lang="en-US" sz="1250" b="1" dirty="0">
                <a:solidFill>
                  <a:srgbClr val="2C0F5E"/>
                </a:solidFill>
                <a:latin typeface="Calibri" pitchFamily="34" charset="0"/>
                <a:ea typeface="Calibri" pitchFamily="34" charset="-122"/>
                <a:cs typeface="Calibri" pitchFamily="34" charset="-120"/>
              </a:rPr>
              <a:t>Decision guide:  </a:t>
            </a:r>
            <a:r>
              <a:rPr lang="en-US" sz="1250" dirty="0">
                <a:solidFill>
                  <a:srgbClr val="5C5470"/>
                </a:solidFill>
                <a:latin typeface="Calibri" pitchFamily="34" charset="0"/>
                <a:ea typeface="Calibri" pitchFamily="34" charset="-122"/>
                <a:cs typeface="Calibri" pitchFamily="34" charset="-120"/>
              </a:rPr>
              <a:t>if a matter needs Commission approval recorded in minutes, or is a statutory PSC form - it belongs in SCDMS. Day-to-day HR, payroll, and pre-PSC recruitment stay in HRMIS.</a:t>
            </a:r>
            <a:endParaRPr lang="en-US" sz="1250" dirty="0"/>
          </a:p>
        </p:txBody>
      </p:sp>
      <p:sp>
        <p:nvSpPr>
          <p:cNvPr id="20" name="Text 17"/>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1" name="Text 18"/>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CORE WORKFLOW</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One record, from lodgement to implementation</a:t>
            </a:r>
            <a:endParaRPr lang="en-US" sz="2900" dirty="0"/>
          </a:p>
        </p:txBody>
      </p:sp>
      <p:sp>
        <p:nvSpPr>
          <p:cNvPr id="5" name="Shape 2"/>
          <p:cNvSpPr/>
          <p:nvPr/>
        </p:nvSpPr>
        <p:spPr>
          <a:xfrm>
            <a:off x="548640" y="2423160"/>
            <a:ext cx="1676400" cy="1371600"/>
          </a:xfrm>
          <a:prstGeom prst="roundRect">
            <a:avLst>
              <a:gd name="adj" fmla="val 5333"/>
            </a:avLst>
          </a:prstGeom>
          <a:solidFill>
            <a:srgbClr val="241150"/>
          </a:solidFill>
          <a:ln/>
        </p:spPr>
      </p:sp>
      <p:sp>
        <p:nvSpPr>
          <p:cNvPr id="6" name="Text 3"/>
          <p:cNvSpPr/>
          <p:nvPr/>
        </p:nvSpPr>
        <p:spPr>
          <a:xfrm>
            <a:off x="658368"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21792"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Lodgement</a:t>
            </a:r>
            <a:endParaRPr lang="en-US" sz="1250" dirty="0"/>
          </a:p>
        </p:txBody>
      </p:sp>
      <p:sp>
        <p:nvSpPr>
          <p:cNvPr id="8" name="Shape 5"/>
          <p:cNvSpPr/>
          <p:nvPr/>
        </p:nvSpPr>
        <p:spPr>
          <a:xfrm>
            <a:off x="2206752" y="3017520"/>
            <a:ext cx="219456" cy="182880"/>
          </a:xfrm>
          <a:prstGeom prst="rightArrow">
            <a:avLst/>
          </a:prstGeom>
          <a:solidFill>
            <a:srgbClr val="CBBFE6"/>
          </a:solidFill>
          <a:ln/>
        </p:spPr>
      </p:sp>
      <p:sp>
        <p:nvSpPr>
          <p:cNvPr id="9" name="Shape 6"/>
          <p:cNvSpPr/>
          <p:nvPr/>
        </p:nvSpPr>
        <p:spPr>
          <a:xfrm>
            <a:off x="2426208" y="2423160"/>
            <a:ext cx="1676400" cy="1371600"/>
          </a:xfrm>
          <a:prstGeom prst="roundRect">
            <a:avLst>
              <a:gd name="adj" fmla="val 5333"/>
            </a:avLst>
          </a:prstGeom>
          <a:solidFill>
            <a:srgbClr val="241150"/>
          </a:solidFill>
          <a:ln/>
        </p:spPr>
      </p:sp>
      <p:sp>
        <p:nvSpPr>
          <p:cNvPr id="10" name="Text 7"/>
          <p:cNvSpPr/>
          <p:nvPr/>
        </p:nvSpPr>
        <p:spPr>
          <a:xfrm>
            <a:off x="2535936"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2499360"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Registration</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&amp; Routing</a:t>
            </a:r>
            <a:endParaRPr lang="en-US" sz="1250" dirty="0"/>
          </a:p>
        </p:txBody>
      </p:sp>
      <p:sp>
        <p:nvSpPr>
          <p:cNvPr id="12" name="Shape 9"/>
          <p:cNvSpPr/>
          <p:nvPr/>
        </p:nvSpPr>
        <p:spPr>
          <a:xfrm>
            <a:off x="4084320" y="3017520"/>
            <a:ext cx="219456" cy="182880"/>
          </a:xfrm>
          <a:prstGeom prst="rightArrow">
            <a:avLst/>
          </a:prstGeom>
          <a:solidFill>
            <a:srgbClr val="CBBFE6"/>
          </a:solidFill>
          <a:ln/>
        </p:spPr>
      </p:sp>
      <p:sp>
        <p:nvSpPr>
          <p:cNvPr id="13" name="Shape 10"/>
          <p:cNvSpPr/>
          <p:nvPr/>
        </p:nvSpPr>
        <p:spPr>
          <a:xfrm>
            <a:off x="4303776" y="2423160"/>
            <a:ext cx="1676400" cy="1371600"/>
          </a:xfrm>
          <a:prstGeom prst="roundRect">
            <a:avLst>
              <a:gd name="adj" fmla="val 5333"/>
            </a:avLst>
          </a:prstGeom>
          <a:solidFill>
            <a:srgbClr val="241150"/>
          </a:solidFill>
          <a:ln/>
        </p:spPr>
      </p:sp>
      <p:sp>
        <p:nvSpPr>
          <p:cNvPr id="14" name="Text 11"/>
          <p:cNvSpPr/>
          <p:nvPr/>
        </p:nvSpPr>
        <p:spPr>
          <a:xfrm>
            <a:off x="4413504"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4376928"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Unit</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Assessment</a:t>
            </a:r>
            <a:endParaRPr lang="en-US" sz="1250" dirty="0"/>
          </a:p>
        </p:txBody>
      </p:sp>
      <p:sp>
        <p:nvSpPr>
          <p:cNvPr id="16" name="Shape 13"/>
          <p:cNvSpPr/>
          <p:nvPr/>
        </p:nvSpPr>
        <p:spPr>
          <a:xfrm>
            <a:off x="5961888" y="3017520"/>
            <a:ext cx="219456" cy="182880"/>
          </a:xfrm>
          <a:prstGeom prst="rightArrow">
            <a:avLst/>
          </a:prstGeom>
          <a:solidFill>
            <a:srgbClr val="CBBFE6"/>
          </a:solidFill>
          <a:ln/>
        </p:spPr>
      </p:sp>
      <p:sp>
        <p:nvSpPr>
          <p:cNvPr id="17" name="Shape 14"/>
          <p:cNvSpPr/>
          <p:nvPr/>
        </p:nvSpPr>
        <p:spPr>
          <a:xfrm>
            <a:off x="6181344" y="2423160"/>
            <a:ext cx="1676400" cy="1371600"/>
          </a:xfrm>
          <a:prstGeom prst="roundRect">
            <a:avLst>
              <a:gd name="adj" fmla="val 5333"/>
            </a:avLst>
          </a:prstGeom>
          <a:solidFill>
            <a:srgbClr val="D9A441"/>
          </a:solidFill>
          <a:ln/>
        </p:spPr>
      </p:sp>
      <p:sp>
        <p:nvSpPr>
          <p:cNvPr id="18" name="Text 15"/>
          <p:cNvSpPr/>
          <p:nvPr/>
        </p:nvSpPr>
        <p:spPr>
          <a:xfrm>
            <a:off x="6291072" y="2514600"/>
            <a:ext cx="548640" cy="365760"/>
          </a:xfrm>
          <a:prstGeom prst="rect">
            <a:avLst/>
          </a:prstGeom>
          <a:noFill/>
          <a:ln/>
        </p:spPr>
        <p:txBody>
          <a:bodyPr wrap="square" rtlCol="0" anchor="ctr"/>
          <a:lstStyle/>
          <a:p>
            <a:pPr marL="0" indent="0">
              <a:buNone/>
            </a:pPr>
            <a:r>
              <a:rPr lang="en-US" sz="1200" b="1" dirty="0">
                <a:solidFill>
                  <a:srgbClr val="2C0F5E"/>
                </a:solidFill>
                <a:latin typeface="Calibri" pitchFamily="34" charset="0"/>
                <a:ea typeface="Calibri" pitchFamily="34" charset="-122"/>
                <a:cs typeface="Calibri" pitchFamily="34" charset="-120"/>
              </a:rPr>
              <a:t>4</a:t>
            </a:r>
            <a:endParaRPr lang="en-US" sz="1200" dirty="0"/>
          </a:p>
        </p:txBody>
      </p:sp>
      <p:sp>
        <p:nvSpPr>
          <p:cNvPr id="19" name="Text 16"/>
          <p:cNvSpPr/>
          <p:nvPr/>
        </p:nvSpPr>
        <p:spPr>
          <a:xfrm>
            <a:off x="6254496"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Commission</a:t>
            </a:r>
            <a:endParaRPr lang="en-US" sz="1250" dirty="0"/>
          </a:p>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Sitting</a:t>
            </a:r>
            <a:endParaRPr lang="en-US" sz="1250" dirty="0"/>
          </a:p>
        </p:txBody>
      </p:sp>
      <p:sp>
        <p:nvSpPr>
          <p:cNvPr id="20" name="Shape 17"/>
          <p:cNvSpPr/>
          <p:nvPr/>
        </p:nvSpPr>
        <p:spPr>
          <a:xfrm>
            <a:off x="7839456" y="3017520"/>
            <a:ext cx="219456" cy="182880"/>
          </a:xfrm>
          <a:prstGeom prst="rightArrow">
            <a:avLst/>
          </a:prstGeom>
          <a:solidFill>
            <a:srgbClr val="CBBFE6"/>
          </a:solidFill>
          <a:ln/>
        </p:spPr>
      </p:sp>
      <p:sp>
        <p:nvSpPr>
          <p:cNvPr id="21" name="Shape 18"/>
          <p:cNvSpPr/>
          <p:nvPr/>
        </p:nvSpPr>
        <p:spPr>
          <a:xfrm>
            <a:off x="8058912" y="2423160"/>
            <a:ext cx="1676400" cy="1371600"/>
          </a:xfrm>
          <a:prstGeom prst="roundRect">
            <a:avLst>
              <a:gd name="adj" fmla="val 5333"/>
            </a:avLst>
          </a:prstGeom>
          <a:solidFill>
            <a:srgbClr val="241150"/>
          </a:solidFill>
          <a:ln/>
        </p:spPr>
      </p:sp>
      <p:sp>
        <p:nvSpPr>
          <p:cNvPr id="22" name="Text 19"/>
          <p:cNvSpPr/>
          <p:nvPr/>
        </p:nvSpPr>
        <p:spPr>
          <a:xfrm>
            <a:off x="8168640"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5</a:t>
            </a:r>
            <a:endParaRPr lang="en-US" sz="1200" dirty="0"/>
          </a:p>
        </p:txBody>
      </p:sp>
      <p:sp>
        <p:nvSpPr>
          <p:cNvPr id="23" name="Text 20"/>
          <p:cNvSpPr/>
          <p:nvPr/>
        </p:nvSpPr>
        <p:spPr>
          <a:xfrm>
            <a:off x="8132064"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Minutes &amp;</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p>
        </p:txBody>
      </p:sp>
      <p:sp>
        <p:nvSpPr>
          <p:cNvPr id="24" name="Shape 21"/>
          <p:cNvSpPr/>
          <p:nvPr/>
        </p:nvSpPr>
        <p:spPr>
          <a:xfrm>
            <a:off x="9717024" y="3017520"/>
            <a:ext cx="219456" cy="182880"/>
          </a:xfrm>
          <a:prstGeom prst="rightArrow">
            <a:avLst/>
          </a:prstGeom>
          <a:solidFill>
            <a:srgbClr val="CBBFE6"/>
          </a:solidFill>
          <a:ln/>
        </p:spPr>
      </p:sp>
      <p:sp>
        <p:nvSpPr>
          <p:cNvPr id="25" name="Shape 22"/>
          <p:cNvSpPr/>
          <p:nvPr/>
        </p:nvSpPr>
        <p:spPr>
          <a:xfrm>
            <a:off x="9936480" y="2423160"/>
            <a:ext cx="1676400" cy="1371600"/>
          </a:xfrm>
          <a:prstGeom prst="roundRect">
            <a:avLst>
              <a:gd name="adj" fmla="val 5333"/>
            </a:avLst>
          </a:prstGeom>
          <a:solidFill>
            <a:srgbClr val="241150"/>
          </a:solidFill>
          <a:ln/>
        </p:spPr>
      </p:sp>
      <p:sp>
        <p:nvSpPr>
          <p:cNvPr id="26" name="Text 23"/>
          <p:cNvSpPr/>
          <p:nvPr/>
        </p:nvSpPr>
        <p:spPr>
          <a:xfrm>
            <a:off x="10046208"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6</a:t>
            </a:r>
            <a:endParaRPr lang="en-US" sz="1200" dirty="0"/>
          </a:p>
        </p:txBody>
      </p:sp>
      <p:sp>
        <p:nvSpPr>
          <p:cNvPr id="27" name="Text 24"/>
          <p:cNvSpPr/>
          <p:nvPr/>
        </p:nvSpPr>
        <p:spPr>
          <a:xfrm>
            <a:off x="10009632"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Implementation</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&amp; Reporting</a:t>
            </a:r>
            <a:endParaRPr lang="en-US" sz="1250" dirty="0"/>
          </a:p>
        </p:txBody>
      </p:sp>
      <p:sp>
        <p:nvSpPr>
          <p:cNvPr id="28" name="Text 25"/>
          <p:cNvSpPr/>
          <p:nvPr/>
        </p:nvSpPr>
        <p:spPr>
          <a:xfrm>
            <a:off x="548640" y="4251960"/>
            <a:ext cx="11064240" cy="640080"/>
          </a:xfrm>
          <a:prstGeom prst="rect">
            <a:avLst/>
          </a:prstGeom>
          <a:noFill/>
          <a:ln/>
        </p:spPr>
        <p:txBody>
          <a:bodyPr wrap="square" rtlCol="0" anchor="ctr"/>
          <a:lstStyle/>
          <a:p>
            <a:pPr marL="0" indent="0">
              <a:lnSpc>
                <a:spcPct val="130000"/>
              </a:lnSpc>
              <a:buNone/>
            </a:pPr>
            <a:r>
              <a:rPr lang="en-US" sz="1350" dirty="0">
                <a:solidFill>
                  <a:srgbClr val="EDE8F7"/>
                </a:solidFill>
                <a:latin typeface="Calibri" pitchFamily="34" charset="0"/>
                <a:ea typeface="Calibri" pitchFamily="34" charset="-122"/>
                <a:cs typeface="Calibri" pitchFamily="34" charset="-120"/>
              </a:rPr>
              <a:t>Every stage transition is validated by role and unit routing, timestamped, and written to an audit trail - so a submission's full history is always reconstructable.</a:t>
            </a:r>
            <a:endParaRPr lang="en-US" sz="1350" dirty="0"/>
          </a:p>
        </p:txBody>
      </p:sp>
      <p:sp>
        <p:nvSpPr>
          <p:cNvPr id="29" name="Text 26"/>
          <p:cNvSpPr/>
          <p:nvPr/>
        </p:nvSpPr>
        <p:spPr>
          <a:xfrm>
            <a:off x="548640" y="5212080"/>
            <a:ext cx="3474720" cy="640080"/>
          </a:xfrm>
          <a:prstGeom prst="rect">
            <a:avLst/>
          </a:prstGeom>
          <a:noFill/>
          <a:ln/>
        </p:spPr>
        <p:txBody>
          <a:bodyPr wrap="square" rtlCol="0" anchor="ctr"/>
          <a:lstStyle/>
          <a:p>
            <a:pPr marL="0" indent="0">
              <a:buNone/>
            </a:pPr>
            <a:r>
              <a:rPr lang="en-US" sz="3400" b="1" dirty="0">
                <a:solidFill>
                  <a:srgbClr val="D9A441"/>
                </a:solidFill>
                <a:latin typeface="Cambria" pitchFamily="34" charset="0"/>
                <a:ea typeface="Cambria" pitchFamily="34" charset="-122"/>
                <a:cs typeface="Cambria" pitchFamily="34" charset="-120"/>
              </a:rPr>
              <a:t>6</a:t>
            </a:r>
            <a:endParaRPr lang="en-US" sz="3400" dirty="0"/>
          </a:p>
        </p:txBody>
      </p:sp>
      <p:sp>
        <p:nvSpPr>
          <p:cNvPr id="30" name="Text 27"/>
          <p:cNvSpPr/>
          <p:nvPr/>
        </p:nvSpPr>
        <p:spPr>
          <a:xfrm>
            <a:off x="548640" y="5852160"/>
            <a:ext cx="3474720" cy="365760"/>
          </a:xfrm>
          <a:prstGeom prst="rect">
            <a:avLst/>
          </a:prstGeom>
          <a:noFill/>
          <a:ln/>
        </p:spPr>
        <p:txBody>
          <a:bodyPr wrap="square" rtlCol="0" anchor="ctr"/>
          <a:lstStyle/>
          <a:p>
            <a:pPr marL="0" indent="0">
              <a:buNone/>
            </a:pPr>
            <a:r>
              <a:rPr lang="en-US" sz="1200" dirty="0">
                <a:solidFill>
                  <a:srgbClr val="CBBFE6"/>
                </a:solidFill>
                <a:latin typeface="Calibri" pitchFamily="34" charset="0"/>
                <a:ea typeface="Calibri" pitchFamily="34" charset="-122"/>
                <a:cs typeface="Calibri" pitchFamily="34" charset="-120"/>
              </a:rPr>
              <a:t>workflow phases</a:t>
            </a:r>
            <a:endParaRPr lang="en-US" sz="1200" dirty="0"/>
          </a:p>
        </p:txBody>
      </p:sp>
      <p:sp>
        <p:nvSpPr>
          <p:cNvPr id="31" name="Text 28"/>
          <p:cNvSpPr/>
          <p:nvPr/>
        </p:nvSpPr>
        <p:spPr>
          <a:xfrm>
            <a:off x="4297680" y="5212080"/>
            <a:ext cx="3474720" cy="640080"/>
          </a:xfrm>
          <a:prstGeom prst="rect">
            <a:avLst/>
          </a:prstGeom>
          <a:noFill/>
          <a:ln/>
        </p:spPr>
        <p:txBody>
          <a:bodyPr wrap="square" rtlCol="0" anchor="ctr"/>
          <a:lstStyle/>
          <a:p>
            <a:pPr marL="0" indent="0">
              <a:buNone/>
            </a:pPr>
            <a:r>
              <a:rPr lang="en-US" sz="3400" b="1" dirty="0">
                <a:solidFill>
                  <a:srgbClr val="D9A441"/>
                </a:solidFill>
                <a:latin typeface="Cambria" pitchFamily="34" charset="0"/>
                <a:ea typeface="Cambria" pitchFamily="34" charset="-122"/>
                <a:cs typeface="Cambria" pitchFamily="34" charset="-120"/>
              </a:rPr>
              <a:t>16+</a:t>
            </a:r>
            <a:endParaRPr lang="en-US" sz="3400" dirty="0"/>
          </a:p>
        </p:txBody>
      </p:sp>
      <p:sp>
        <p:nvSpPr>
          <p:cNvPr id="32" name="Text 29"/>
          <p:cNvSpPr/>
          <p:nvPr/>
        </p:nvSpPr>
        <p:spPr>
          <a:xfrm>
            <a:off x="4297680" y="5852160"/>
            <a:ext cx="3474720" cy="365760"/>
          </a:xfrm>
          <a:prstGeom prst="rect">
            <a:avLst/>
          </a:prstGeom>
          <a:noFill/>
          <a:ln/>
        </p:spPr>
        <p:txBody>
          <a:bodyPr wrap="square" rtlCol="0" anchor="ctr"/>
          <a:lstStyle/>
          <a:p>
            <a:pPr marL="0" indent="0">
              <a:buNone/>
            </a:pPr>
            <a:r>
              <a:rPr lang="en-US" sz="1200" dirty="0">
                <a:solidFill>
                  <a:srgbClr val="CBBFE6"/>
                </a:solidFill>
                <a:latin typeface="Calibri" pitchFamily="34" charset="0"/>
                <a:ea typeface="Calibri" pitchFamily="34" charset="-122"/>
                <a:cs typeface="Calibri" pitchFamily="34" charset="-120"/>
              </a:rPr>
              <a:t>distinct stages &amp; branches</a:t>
            </a:r>
            <a:endParaRPr lang="en-US" sz="1200" dirty="0"/>
          </a:p>
        </p:txBody>
      </p:sp>
      <p:sp>
        <p:nvSpPr>
          <p:cNvPr id="33" name="Text 30"/>
          <p:cNvSpPr/>
          <p:nvPr/>
        </p:nvSpPr>
        <p:spPr>
          <a:xfrm>
            <a:off x="8046720" y="5212080"/>
            <a:ext cx="3474720" cy="640080"/>
          </a:xfrm>
          <a:prstGeom prst="rect">
            <a:avLst/>
          </a:prstGeom>
          <a:noFill/>
          <a:ln/>
        </p:spPr>
        <p:txBody>
          <a:bodyPr wrap="square" rtlCol="0" anchor="ctr"/>
          <a:lstStyle/>
          <a:p>
            <a:pPr marL="0" indent="0">
              <a:buNone/>
            </a:pPr>
            <a:r>
              <a:rPr lang="en-US" sz="3400" b="1" dirty="0">
                <a:solidFill>
                  <a:srgbClr val="D9A441"/>
                </a:solidFill>
                <a:latin typeface="Cambria" pitchFamily="34" charset="0"/>
                <a:ea typeface="Cambria" pitchFamily="34" charset="-122"/>
                <a:cs typeface="Cambria" pitchFamily="34" charset="-120"/>
              </a:rPr>
              <a:t>4</a:t>
            </a:r>
            <a:endParaRPr lang="en-US" sz="3400" dirty="0"/>
          </a:p>
        </p:txBody>
      </p:sp>
      <p:sp>
        <p:nvSpPr>
          <p:cNvPr id="34" name="Text 31"/>
          <p:cNvSpPr/>
          <p:nvPr/>
        </p:nvSpPr>
        <p:spPr>
          <a:xfrm>
            <a:off x="8046720" y="5852160"/>
            <a:ext cx="3474720" cy="365760"/>
          </a:xfrm>
          <a:prstGeom prst="rect">
            <a:avLst/>
          </a:prstGeom>
          <a:noFill/>
          <a:ln/>
        </p:spPr>
        <p:txBody>
          <a:bodyPr wrap="square" rtlCol="0" anchor="ctr"/>
          <a:lstStyle/>
          <a:p>
            <a:pPr marL="0" indent="0">
              <a:buNone/>
            </a:pPr>
            <a:r>
              <a:rPr lang="en-US" sz="1200" dirty="0">
                <a:solidFill>
                  <a:srgbClr val="CBBFE6"/>
                </a:solidFill>
                <a:latin typeface="Calibri" pitchFamily="34" charset="0"/>
                <a:ea typeface="Calibri" pitchFamily="34" charset="-122"/>
                <a:cs typeface="Calibri" pitchFamily="34" charset="-120"/>
              </a:rPr>
              <a:t>OPSC assessment units routed</a:t>
            </a:r>
            <a:endParaRPr lang="en-US" sz="1200" dirty="0"/>
          </a:p>
        </p:txBody>
      </p:sp>
      <p:sp>
        <p:nvSpPr>
          <p:cNvPr id="35" name="Text 3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6" name="Text 3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ACCESS &amp; ROLES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Role-based access across the full process</a:t>
            </a:r>
            <a:endParaRPr lang="en-US" sz="2900" dirty="0"/>
          </a:p>
        </p:txBody>
      </p:sp>
      <p:sp>
        <p:nvSpPr>
          <p:cNvPr id="5" name="Shape 2"/>
          <p:cNvSpPr/>
          <p:nvPr/>
        </p:nvSpPr>
        <p:spPr>
          <a:xfrm>
            <a:off x="548640" y="178308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6" name="Shape 3"/>
          <p:cNvSpPr/>
          <p:nvPr/>
        </p:nvSpPr>
        <p:spPr>
          <a:xfrm>
            <a:off x="813816" y="2162556"/>
            <a:ext cx="658368" cy="658368"/>
          </a:xfrm>
          <a:prstGeom prst="ellipse">
            <a:avLst/>
          </a:prstGeom>
          <a:solidFill>
            <a:srgbClr val="D9A441"/>
          </a:solidFill>
          <a:ln/>
        </p:spPr>
      </p:sp>
      <p:sp>
        <p:nvSpPr>
          <p:cNvPr id="7" name="Text 4"/>
          <p:cNvSpPr/>
          <p:nvPr/>
        </p:nvSpPr>
        <p:spPr>
          <a:xfrm>
            <a:off x="813816" y="216255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MIN</a:t>
            </a:r>
            <a:endParaRPr lang="en-US" sz="1200" dirty="0"/>
          </a:p>
        </p:txBody>
      </p:sp>
      <p:sp>
        <p:nvSpPr>
          <p:cNvPr id="8" name="Text 5"/>
          <p:cNvSpPr/>
          <p:nvPr/>
        </p:nvSpPr>
        <p:spPr>
          <a:xfrm>
            <a:off x="1691640" y="198424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Ministry side</a:t>
            </a:r>
            <a:endParaRPr lang="en-US" sz="1400" dirty="0"/>
          </a:p>
        </p:txBody>
      </p:sp>
      <p:sp>
        <p:nvSpPr>
          <p:cNvPr id="9" name="Text 6"/>
          <p:cNvSpPr/>
          <p:nvPr/>
        </p:nvSpPr>
        <p:spPr>
          <a:xfrm>
            <a:off x="1691640" y="235000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Head of Agency, Ministry HR, Department Admin - lodge and respond to matters</a:t>
            </a:r>
            <a:endParaRPr lang="en-US" sz="1050" dirty="0"/>
          </a:p>
        </p:txBody>
      </p:sp>
      <p:sp>
        <p:nvSpPr>
          <p:cNvPr id="10" name="Shape 7"/>
          <p:cNvSpPr/>
          <p:nvPr/>
        </p:nvSpPr>
        <p:spPr>
          <a:xfrm>
            <a:off x="6126480" y="178308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11" name="Shape 8"/>
          <p:cNvSpPr/>
          <p:nvPr/>
        </p:nvSpPr>
        <p:spPr>
          <a:xfrm>
            <a:off x="6391656" y="2162556"/>
            <a:ext cx="658368" cy="658368"/>
          </a:xfrm>
          <a:prstGeom prst="ellipse">
            <a:avLst/>
          </a:prstGeom>
          <a:solidFill>
            <a:srgbClr val="D9A441"/>
          </a:solidFill>
          <a:ln/>
        </p:spPr>
      </p:sp>
      <p:sp>
        <p:nvSpPr>
          <p:cNvPr id="12" name="Text 9"/>
          <p:cNvSpPr/>
          <p:nvPr/>
        </p:nvSpPr>
        <p:spPr>
          <a:xfrm>
            <a:off x="6391656" y="216255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PSC</a:t>
            </a:r>
            <a:endParaRPr lang="en-US" sz="1200" dirty="0"/>
          </a:p>
        </p:txBody>
      </p:sp>
      <p:sp>
        <p:nvSpPr>
          <p:cNvPr id="13" name="Text 10"/>
          <p:cNvSpPr/>
          <p:nvPr/>
        </p:nvSpPr>
        <p:spPr>
          <a:xfrm>
            <a:off x="7269480" y="198424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PSC Secretariat</a:t>
            </a:r>
            <a:endParaRPr lang="en-US" sz="1400" dirty="0"/>
          </a:p>
        </p:txBody>
      </p:sp>
      <p:sp>
        <p:nvSpPr>
          <p:cNvPr id="14" name="Text 11"/>
          <p:cNvSpPr/>
          <p:nvPr/>
        </p:nvSpPr>
        <p:spPr>
          <a:xfrm>
            <a:off x="7269480" y="235000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Officer, Secretary, Senior Admin - intake, registration, minutes, agenda</a:t>
            </a:r>
            <a:endParaRPr lang="en-US" sz="1050" dirty="0"/>
          </a:p>
        </p:txBody>
      </p:sp>
      <p:sp>
        <p:nvSpPr>
          <p:cNvPr id="15" name="Shape 12"/>
          <p:cNvSpPr/>
          <p:nvPr/>
        </p:nvSpPr>
        <p:spPr>
          <a:xfrm>
            <a:off x="548640" y="333756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16" name="Shape 13"/>
          <p:cNvSpPr/>
          <p:nvPr/>
        </p:nvSpPr>
        <p:spPr>
          <a:xfrm>
            <a:off x="813816" y="3717036"/>
            <a:ext cx="658368" cy="658368"/>
          </a:xfrm>
          <a:prstGeom prst="ellipse">
            <a:avLst/>
          </a:prstGeom>
          <a:solidFill>
            <a:srgbClr val="D9A441"/>
          </a:solidFill>
          <a:ln/>
        </p:spPr>
      </p:sp>
      <p:sp>
        <p:nvSpPr>
          <p:cNvPr id="17" name="Text 14"/>
          <p:cNvSpPr/>
          <p:nvPr/>
        </p:nvSpPr>
        <p:spPr>
          <a:xfrm>
            <a:off x="813816" y="371703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UNT</a:t>
            </a:r>
            <a:endParaRPr lang="en-US" sz="1200" dirty="0"/>
          </a:p>
        </p:txBody>
      </p:sp>
      <p:sp>
        <p:nvSpPr>
          <p:cNvPr id="18" name="Text 15"/>
          <p:cNvSpPr/>
          <p:nvPr/>
        </p:nvSpPr>
        <p:spPr>
          <a:xfrm>
            <a:off x="1691640" y="353872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OPSC Assessment Units</a:t>
            </a:r>
            <a:endParaRPr lang="en-US" sz="1400" dirty="0"/>
          </a:p>
        </p:txBody>
      </p:sp>
      <p:sp>
        <p:nvSpPr>
          <p:cNvPr id="19" name="Text 16"/>
          <p:cNvSpPr/>
          <p:nvPr/>
        </p:nvSpPr>
        <p:spPr>
          <a:xfrm>
            <a:off x="1691640" y="390448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VIPAM, HR Unit, ODU, Compliance - manager checklist gate + principal assessment</a:t>
            </a:r>
            <a:endParaRPr lang="en-US" sz="1050" dirty="0"/>
          </a:p>
        </p:txBody>
      </p:sp>
      <p:sp>
        <p:nvSpPr>
          <p:cNvPr id="20" name="Shape 17"/>
          <p:cNvSpPr/>
          <p:nvPr/>
        </p:nvSpPr>
        <p:spPr>
          <a:xfrm>
            <a:off x="6126480" y="333756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21" name="Shape 18"/>
          <p:cNvSpPr/>
          <p:nvPr/>
        </p:nvSpPr>
        <p:spPr>
          <a:xfrm>
            <a:off x="6391656" y="3717036"/>
            <a:ext cx="658368" cy="658368"/>
          </a:xfrm>
          <a:prstGeom prst="ellipse">
            <a:avLst/>
          </a:prstGeom>
          <a:solidFill>
            <a:srgbClr val="D9A441"/>
          </a:solidFill>
          <a:ln/>
        </p:spPr>
      </p:sp>
      <p:sp>
        <p:nvSpPr>
          <p:cNvPr id="22" name="Text 19"/>
          <p:cNvSpPr/>
          <p:nvPr/>
        </p:nvSpPr>
        <p:spPr>
          <a:xfrm>
            <a:off x="6391656" y="371703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COM</a:t>
            </a:r>
            <a:endParaRPr lang="en-US" sz="1200" dirty="0"/>
          </a:p>
        </p:txBody>
      </p:sp>
      <p:sp>
        <p:nvSpPr>
          <p:cNvPr id="23" name="Text 20"/>
          <p:cNvSpPr/>
          <p:nvPr/>
        </p:nvSpPr>
        <p:spPr>
          <a:xfrm>
            <a:off x="7269480" y="353872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Commission</a:t>
            </a:r>
            <a:endParaRPr lang="en-US" sz="1400" dirty="0"/>
          </a:p>
        </p:txBody>
      </p:sp>
      <p:sp>
        <p:nvSpPr>
          <p:cNvPr id="24" name="Text 21"/>
          <p:cNvSpPr/>
          <p:nvPr/>
        </p:nvSpPr>
        <p:spPr>
          <a:xfrm>
            <a:off x="7269480" y="390448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Commissioners &amp; Chairperson - sitting participation and deliberation</a:t>
            </a:r>
            <a:endParaRPr lang="en-US" sz="1050" dirty="0"/>
          </a:p>
        </p:txBody>
      </p:sp>
      <p:sp>
        <p:nvSpPr>
          <p:cNvPr id="25" name="Shape 22"/>
          <p:cNvSpPr/>
          <p:nvPr/>
        </p:nvSpPr>
        <p:spPr>
          <a:xfrm>
            <a:off x="548640" y="489204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26" name="Shape 23"/>
          <p:cNvSpPr/>
          <p:nvPr/>
        </p:nvSpPr>
        <p:spPr>
          <a:xfrm>
            <a:off x="813816" y="5271516"/>
            <a:ext cx="658368" cy="658368"/>
          </a:xfrm>
          <a:prstGeom prst="ellipse">
            <a:avLst/>
          </a:prstGeom>
          <a:solidFill>
            <a:srgbClr val="D9A441"/>
          </a:solidFill>
          <a:ln/>
        </p:spPr>
      </p:sp>
      <p:sp>
        <p:nvSpPr>
          <p:cNvPr id="27" name="Text 24"/>
          <p:cNvSpPr/>
          <p:nvPr/>
        </p:nvSpPr>
        <p:spPr>
          <a:xfrm>
            <a:off x="813816" y="527151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EXE</a:t>
            </a:r>
            <a:endParaRPr lang="en-US" sz="1200" dirty="0"/>
          </a:p>
        </p:txBody>
      </p:sp>
      <p:sp>
        <p:nvSpPr>
          <p:cNvPr id="28" name="Text 25"/>
          <p:cNvSpPr/>
          <p:nvPr/>
        </p:nvSpPr>
        <p:spPr>
          <a:xfrm>
            <a:off x="1691640" y="509320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Post-Decision Execution</a:t>
            </a:r>
            <a:endParaRPr lang="en-US" sz="1400" dirty="0"/>
          </a:p>
        </p:txBody>
      </p:sp>
      <p:sp>
        <p:nvSpPr>
          <p:cNvPr id="29" name="Text 26"/>
          <p:cNvSpPr/>
          <p:nvPr/>
        </p:nvSpPr>
        <p:spPr>
          <a:xfrm>
            <a:off x="1691640" y="545896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OPSC Manager, Principal Officer, Senior Officer - implementation tasks</a:t>
            </a:r>
            <a:endParaRPr lang="en-US" sz="1050" dirty="0"/>
          </a:p>
        </p:txBody>
      </p:sp>
      <p:sp>
        <p:nvSpPr>
          <p:cNvPr id="30" name="Shape 27"/>
          <p:cNvSpPr/>
          <p:nvPr/>
        </p:nvSpPr>
        <p:spPr>
          <a:xfrm>
            <a:off x="6126480" y="489204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31" name="Shape 28"/>
          <p:cNvSpPr/>
          <p:nvPr/>
        </p:nvSpPr>
        <p:spPr>
          <a:xfrm>
            <a:off x="6391656" y="5271516"/>
            <a:ext cx="658368" cy="658368"/>
          </a:xfrm>
          <a:prstGeom prst="ellipse">
            <a:avLst/>
          </a:prstGeom>
          <a:solidFill>
            <a:srgbClr val="D9A441"/>
          </a:solidFill>
          <a:ln/>
        </p:spPr>
      </p:sp>
      <p:sp>
        <p:nvSpPr>
          <p:cNvPr id="32" name="Text 29"/>
          <p:cNvSpPr/>
          <p:nvPr/>
        </p:nvSpPr>
        <p:spPr>
          <a:xfrm>
            <a:off x="6391656" y="527151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ADM</a:t>
            </a:r>
            <a:endParaRPr lang="en-US" sz="1200" dirty="0"/>
          </a:p>
        </p:txBody>
      </p:sp>
      <p:sp>
        <p:nvSpPr>
          <p:cNvPr id="33" name="Text 30"/>
          <p:cNvSpPr/>
          <p:nvPr/>
        </p:nvSpPr>
        <p:spPr>
          <a:xfrm>
            <a:off x="7269480" y="509320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System Administration</a:t>
            </a:r>
            <a:endParaRPr lang="en-US" sz="1400" dirty="0"/>
          </a:p>
        </p:txBody>
      </p:sp>
      <p:sp>
        <p:nvSpPr>
          <p:cNvPr id="34" name="Text 31"/>
          <p:cNvSpPr/>
          <p:nvPr/>
        </p:nvSpPr>
        <p:spPr>
          <a:xfrm>
            <a:off x="7269480" y="545896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PSC Administrator - users, form builder, configuration, security</a:t>
            </a:r>
            <a:endParaRPr lang="en-US" sz="1050" dirty="0"/>
          </a:p>
        </p:txBody>
      </p:sp>
      <p:sp>
        <p:nvSpPr>
          <p:cNvPr id="35" name="Text 3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6" name="Text 3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SUBMISSIONS &amp; FORMS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Digitised PSC forms, not a generic upload box</a:t>
            </a:r>
            <a:endParaRPr lang="en-US" sz="2900" dirty="0"/>
          </a:p>
        </p:txBody>
      </p:sp>
      <p:sp>
        <p:nvSpPr>
          <p:cNvPr id="5" name="Shape 2"/>
          <p:cNvSpPr/>
          <p:nvPr/>
        </p:nvSpPr>
        <p:spPr>
          <a:xfrm>
            <a:off x="1700784" y="1837944"/>
            <a:ext cx="530352" cy="530352"/>
          </a:xfrm>
          <a:prstGeom prst="ellipse">
            <a:avLst/>
          </a:prstGeom>
          <a:solidFill>
            <a:srgbClr val="D9A441"/>
          </a:solidFill>
          <a:ln/>
        </p:spPr>
      </p:sp>
      <p:sp>
        <p:nvSpPr>
          <p:cNvPr id="6" name="Text 3"/>
          <p:cNvSpPr/>
          <p:nvPr/>
        </p:nvSpPr>
        <p:spPr>
          <a:xfrm>
            <a:off x="1700784" y="18379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7" name="Text 4"/>
          <p:cNvSpPr/>
          <p:nvPr/>
        </p:nvSpPr>
        <p:spPr>
          <a:xfrm>
            <a:off x="2377440" y="1737360"/>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No-code form builder</a:t>
            </a:r>
            <a:endParaRPr lang="en-US" sz="1450" dirty="0"/>
          </a:p>
        </p:txBody>
      </p:sp>
      <p:sp>
        <p:nvSpPr>
          <p:cNvPr id="8" name="Text 5"/>
          <p:cNvSpPr/>
          <p:nvPr/>
        </p:nvSpPr>
        <p:spPr>
          <a:xfrm>
            <a:off x="2377440" y="2103120"/>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PSC forms digitised field-by-field - text, dates, dropdowns, multi-page sections - with XML/JSON bulk import.</a:t>
            </a:r>
            <a:endParaRPr lang="en-US" sz="1100" dirty="0"/>
          </a:p>
        </p:txBody>
      </p:sp>
      <p:sp>
        <p:nvSpPr>
          <p:cNvPr id="9" name="Shape 6"/>
          <p:cNvSpPr/>
          <p:nvPr/>
        </p:nvSpPr>
        <p:spPr>
          <a:xfrm>
            <a:off x="1700784" y="3008376"/>
            <a:ext cx="530352" cy="530352"/>
          </a:xfrm>
          <a:prstGeom prst="ellipse">
            <a:avLst/>
          </a:prstGeom>
          <a:solidFill>
            <a:srgbClr val="D9A441"/>
          </a:solidFill>
          <a:ln/>
        </p:spPr>
      </p:sp>
      <p:sp>
        <p:nvSpPr>
          <p:cNvPr id="10" name="Text 7"/>
          <p:cNvSpPr/>
          <p:nvPr/>
        </p:nvSpPr>
        <p:spPr>
          <a:xfrm>
            <a:off x="1700784" y="3008376"/>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11" name="Text 8"/>
          <p:cNvSpPr/>
          <p:nvPr/>
        </p:nvSpPr>
        <p:spPr>
          <a:xfrm>
            <a:off x="2377440" y="2907792"/>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8 canonical form categories</a:t>
            </a:r>
            <a:endParaRPr lang="en-US" sz="1450" dirty="0"/>
          </a:p>
        </p:txBody>
      </p:sp>
      <p:sp>
        <p:nvSpPr>
          <p:cNvPr id="12" name="Text 9"/>
          <p:cNvSpPr/>
          <p:nvPr/>
        </p:nvSpPr>
        <p:spPr>
          <a:xfrm>
            <a:off x="2377440" y="3273552"/>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OEM, REC, TCE, MET, MSD, MGRH, MGF, PM - covering appointments, salary, discipline, training, travel, and more.</a:t>
            </a:r>
            <a:endParaRPr lang="en-US" sz="1100" dirty="0"/>
          </a:p>
        </p:txBody>
      </p:sp>
      <p:sp>
        <p:nvSpPr>
          <p:cNvPr id="13" name="Shape 10"/>
          <p:cNvSpPr/>
          <p:nvPr/>
        </p:nvSpPr>
        <p:spPr>
          <a:xfrm>
            <a:off x="1700784" y="4178808"/>
            <a:ext cx="530352" cy="530352"/>
          </a:xfrm>
          <a:prstGeom prst="ellipse">
            <a:avLst/>
          </a:prstGeom>
          <a:solidFill>
            <a:srgbClr val="D9A441"/>
          </a:solidFill>
          <a:ln/>
        </p:spPr>
      </p:sp>
      <p:sp>
        <p:nvSpPr>
          <p:cNvPr id="14" name="Text 11"/>
          <p:cNvSpPr/>
          <p:nvPr/>
        </p:nvSpPr>
        <p:spPr>
          <a:xfrm>
            <a:off x="1700784" y="4178808"/>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15" name="Text 12"/>
          <p:cNvSpPr/>
          <p:nvPr/>
        </p:nvSpPr>
        <p:spPr>
          <a:xfrm>
            <a:off x="2377440" y="4078224"/>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Unit checklists</a:t>
            </a:r>
            <a:endParaRPr lang="en-US" sz="1450" dirty="0"/>
          </a:p>
        </p:txBody>
      </p:sp>
      <p:sp>
        <p:nvSpPr>
          <p:cNvPr id="16" name="Text 13"/>
          <p:cNvSpPr/>
          <p:nvPr/>
        </p:nvSpPr>
        <p:spPr>
          <a:xfrm>
            <a:off x="2377440" y="4443984"/>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Each submission type carries its own compliance checklist, enforced at the manager review gate.</a:t>
            </a:r>
            <a:endParaRPr lang="en-US" sz="1100" dirty="0"/>
          </a:p>
        </p:txBody>
      </p:sp>
      <p:sp>
        <p:nvSpPr>
          <p:cNvPr id="17" name="Shape 14"/>
          <p:cNvSpPr/>
          <p:nvPr/>
        </p:nvSpPr>
        <p:spPr>
          <a:xfrm>
            <a:off x="1700784" y="5349240"/>
            <a:ext cx="530352" cy="530352"/>
          </a:xfrm>
          <a:prstGeom prst="ellipse">
            <a:avLst/>
          </a:prstGeom>
          <a:solidFill>
            <a:srgbClr val="D9A441"/>
          </a:solidFill>
          <a:ln/>
        </p:spPr>
      </p:sp>
      <p:sp>
        <p:nvSpPr>
          <p:cNvPr id="18" name="Text 15"/>
          <p:cNvSpPr/>
          <p:nvPr/>
        </p:nvSpPr>
        <p:spPr>
          <a:xfrm>
            <a:off x="1700784" y="5349240"/>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19" name="Text 16"/>
          <p:cNvSpPr/>
          <p:nvPr/>
        </p:nvSpPr>
        <p:spPr>
          <a:xfrm>
            <a:off x="2377440" y="5248656"/>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Parent/child packages</a:t>
            </a:r>
            <a:endParaRPr lang="en-US" sz="1450" dirty="0"/>
          </a:p>
        </p:txBody>
      </p:sp>
      <p:sp>
        <p:nvSpPr>
          <p:cNvPr id="20" name="Text 17"/>
          <p:cNvSpPr/>
          <p:nvPr/>
        </p:nvSpPr>
        <p:spPr>
          <a:xfrm>
            <a:off x="2377440" y="5614416"/>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Linked submissions (e.g. a main form plus its attachment forms) travel and are tracked together.</a:t>
            </a:r>
            <a:endParaRPr lang="en-US" sz="1100" dirty="0"/>
          </a:p>
        </p:txBody>
      </p:sp>
      <p:sp>
        <p:nvSpPr>
          <p:cNvPr id="21" name="Shape 18"/>
          <p:cNvSpPr/>
          <p:nvPr/>
        </p:nvSpPr>
        <p:spPr>
          <a:xfrm>
            <a:off x="7818120" y="1737360"/>
            <a:ext cx="3840480" cy="4389120"/>
          </a:xfrm>
          <a:prstGeom prst="roundRect">
            <a:avLst>
              <a:gd name="adj" fmla="val 2143"/>
            </a:avLst>
          </a:prstGeom>
          <a:solidFill>
            <a:srgbClr val="1E0E42"/>
          </a:solidFill>
          <a:ln/>
          <a:effectLst>
            <a:outerShdw blurRad="127000" dist="38100" dir="5400000" algn="bl" rotWithShape="0">
              <a:srgbClr val="1B0B3E">
                <a:alpha val="35000"/>
              </a:srgbClr>
            </a:outerShdw>
          </a:effectLst>
        </p:spPr>
      </p:sp>
      <p:sp>
        <p:nvSpPr>
          <p:cNvPr id="22" name="Text 19"/>
          <p:cNvSpPr/>
          <p:nvPr/>
        </p:nvSpPr>
        <p:spPr>
          <a:xfrm>
            <a:off x="8092440" y="1965960"/>
            <a:ext cx="3291840" cy="365760"/>
          </a:xfrm>
          <a:prstGeom prst="rect">
            <a:avLst/>
          </a:prstGeom>
          <a:noFill/>
          <a:ln/>
        </p:spPr>
        <p:txBody>
          <a:bodyPr wrap="square" rtlCol="0" anchor="ctr"/>
          <a:lstStyle/>
          <a:p>
            <a:pPr marL="0" indent="0">
              <a:buNone/>
            </a:pPr>
            <a:r>
              <a:rPr lang="en-US" sz="1300" b="1" dirty="0">
                <a:solidFill>
                  <a:srgbClr val="D9A441"/>
                </a:solidFill>
                <a:latin typeface="Calibri" pitchFamily="34" charset="0"/>
                <a:ea typeface="Calibri" pitchFamily="34" charset="-122"/>
                <a:cs typeface="Calibri" pitchFamily="34" charset="-120"/>
              </a:rPr>
              <a:t>Document handling</a:t>
            </a:r>
            <a:endParaRPr lang="en-US" sz="1300" dirty="0"/>
          </a:p>
        </p:txBody>
      </p:sp>
      <p:sp>
        <p:nvSpPr>
          <p:cNvPr id="23" name="Text 20"/>
          <p:cNvSpPr/>
          <p:nvPr/>
        </p:nvSpPr>
        <p:spPr>
          <a:xfrm>
            <a:off x="8092440" y="246888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Confidential-by-default attachments</a:t>
            </a:r>
            <a:endParaRPr lang="en-US" sz="1200" dirty="0"/>
          </a:p>
        </p:txBody>
      </p:sp>
      <p:sp>
        <p:nvSpPr>
          <p:cNvPr id="24" name="Text 21"/>
          <p:cNvSpPr/>
          <p:nvPr/>
        </p:nvSpPr>
        <p:spPr>
          <a:xfrm>
            <a:off x="8092440" y="306324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In-browser annotation (Fabric.js + PDF.js)</a:t>
            </a:r>
            <a:endParaRPr lang="en-US" sz="1200" dirty="0"/>
          </a:p>
        </p:txBody>
      </p:sp>
      <p:sp>
        <p:nvSpPr>
          <p:cNvPr id="25" name="Text 22"/>
          <p:cNvSpPr/>
          <p:nvPr/>
        </p:nvSpPr>
        <p:spPr>
          <a:xfrm>
            <a:off x="8092440" y="365760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Digital signature placement</a:t>
            </a:r>
            <a:endParaRPr lang="en-US" sz="1200" dirty="0"/>
          </a:p>
        </p:txBody>
      </p:sp>
      <p:sp>
        <p:nvSpPr>
          <p:cNvPr id="26" name="Text 23"/>
          <p:cNvSpPr/>
          <p:nvPr/>
        </p:nvSpPr>
        <p:spPr>
          <a:xfrm>
            <a:off x="8092440" y="425196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System-generated PDFs for letters &amp; packs</a:t>
            </a:r>
            <a:endParaRPr lang="en-US" sz="1200" dirty="0"/>
          </a:p>
        </p:txBody>
      </p:sp>
      <p:sp>
        <p:nvSpPr>
          <p:cNvPr id="27" name="Text 24"/>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8" name="Text 25"/>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COMMISSION SECRETARIAT</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From agenda to signed minutes</a:t>
            </a:r>
            <a:endParaRPr lang="en-US" sz="2900" dirty="0"/>
          </a:p>
        </p:txBody>
      </p:sp>
      <p:sp>
        <p:nvSpPr>
          <p:cNvPr id="5" name="Shape 2"/>
          <p:cNvSpPr/>
          <p:nvPr/>
        </p:nvSpPr>
        <p:spPr>
          <a:xfrm>
            <a:off x="548640" y="178308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6" name="Shape 3"/>
          <p:cNvSpPr/>
          <p:nvPr/>
        </p:nvSpPr>
        <p:spPr>
          <a:xfrm>
            <a:off x="786384" y="1975104"/>
            <a:ext cx="530352" cy="530352"/>
          </a:xfrm>
          <a:prstGeom prst="ellipse">
            <a:avLst/>
          </a:prstGeom>
          <a:solidFill>
            <a:srgbClr val="D9A441"/>
          </a:solidFill>
          <a:ln/>
        </p:spPr>
      </p:sp>
      <p:sp>
        <p:nvSpPr>
          <p:cNvPr id="7" name="Text 4"/>
          <p:cNvSpPr/>
          <p:nvPr/>
        </p:nvSpPr>
        <p:spPr>
          <a:xfrm>
            <a:off x="786384" y="197510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1</a:t>
            </a:r>
            <a:endParaRPr lang="en-US" sz="1500" dirty="0"/>
          </a:p>
        </p:txBody>
      </p:sp>
      <p:sp>
        <p:nvSpPr>
          <p:cNvPr id="8" name="Text 5"/>
          <p:cNvSpPr/>
          <p:nvPr/>
        </p:nvSpPr>
        <p:spPr>
          <a:xfrm>
            <a:off x="777240" y="262432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Sittings calendar</a:t>
            </a:r>
            <a:endParaRPr lang="en-US" sz="1300" dirty="0"/>
          </a:p>
        </p:txBody>
      </p:sp>
      <p:sp>
        <p:nvSpPr>
          <p:cNvPr id="9" name="Text 6"/>
          <p:cNvSpPr/>
          <p:nvPr/>
        </p:nvSpPr>
        <p:spPr>
          <a:xfrm>
            <a:off x="777240" y="297180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Schedule and manage Commission meeting types and status.</a:t>
            </a:r>
            <a:endParaRPr lang="en-US" sz="1000" dirty="0"/>
          </a:p>
        </p:txBody>
      </p:sp>
      <p:sp>
        <p:nvSpPr>
          <p:cNvPr id="10" name="Shape 7"/>
          <p:cNvSpPr/>
          <p:nvPr/>
        </p:nvSpPr>
        <p:spPr>
          <a:xfrm>
            <a:off x="4251960" y="178308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11" name="Shape 8"/>
          <p:cNvSpPr/>
          <p:nvPr/>
        </p:nvSpPr>
        <p:spPr>
          <a:xfrm>
            <a:off x="4489704" y="1975104"/>
            <a:ext cx="530352" cy="530352"/>
          </a:xfrm>
          <a:prstGeom prst="ellipse">
            <a:avLst/>
          </a:prstGeom>
          <a:solidFill>
            <a:srgbClr val="D9A441"/>
          </a:solidFill>
          <a:ln/>
        </p:spPr>
      </p:sp>
      <p:sp>
        <p:nvSpPr>
          <p:cNvPr id="12" name="Text 9"/>
          <p:cNvSpPr/>
          <p:nvPr/>
        </p:nvSpPr>
        <p:spPr>
          <a:xfrm>
            <a:off x="4489704" y="197510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2</a:t>
            </a:r>
            <a:endParaRPr lang="en-US" sz="1500" dirty="0"/>
          </a:p>
        </p:txBody>
      </p:sp>
      <p:sp>
        <p:nvSpPr>
          <p:cNvPr id="13" name="Text 10"/>
          <p:cNvSpPr/>
          <p:nvPr/>
        </p:nvSpPr>
        <p:spPr>
          <a:xfrm>
            <a:off x="4480560" y="262432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Agenda management</a:t>
            </a:r>
            <a:endParaRPr lang="en-US" sz="1300" dirty="0"/>
          </a:p>
        </p:txBody>
      </p:sp>
      <p:sp>
        <p:nvSpPr>
          <p:cNvPr id="14" name="Text 11"/>
          <p:cNvSpPr/>
          <p:nvPr/>
        </p:nvSpPr>
        <p:spPr>
          <a:xfrm>
            <a:off x="4480560" y="297180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Order and structure matters for each sitting.</a:t>
            </a:r>
            <a:endParaRPr lang="en-US" sz="1000" dirty="0"/>
          </a:p>
        </p:txBody>
      </p:sp>
      <p:sp>
        <p:nvSpPr>
          <p:cNvPr id="15" name="Shape 12"/>
          <p:cNvSpPr/>
          <p:nvPr/>
        </p:nvSpPr>
        <p:spPr>
          <a:xfrm>
            <a:off x="7955280" y="178308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16" name="Shape 13"/>
          <p:cNvSpPr/>
          <p:nvPr/>
        </p:nvSpPr>
        <p:spPr>
          <a:xfrm>
            <a:off x="8193024" y="1975104"/>
            <a:ext cx="530352" cy="530352"/>
          </a:xfrm>
          <a:prstGeom prst="ellipse">
            <a:avLst/>
          </a:prstGeom>
          <a:solidFill>
            <a:srgbClr val="D9A441"/>
          </a:solidFill>
          <a:ln/>
        </p:spPr>
      </p:sp>
      <p:sp>
        <p:nvSpPr>
          <p:cNvPr id="17" name="Text 14"/>
          <p:cNvSpPr/>
          <p:nvPr/>
        </p:nvSpPr>
        <p:spPr>
          <a:xfrm>
            <a:off x="8193024" y="197510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3</a:t>
            </a:r>
            <a:endParaRPr lang="en-US" sz="1500" dirty="0"/>
          </a:p>
        </p:txBody>
      </p:sp>
      <p:sp>
        <p:nvSpPr>
          <p:cNvPr id="18" name="Text 15"/>
          <p:cNvSpPr/>
          <p:nvPr/>
        </p:nvSpPr>
        <p:spPr>
          <a:xfrm>
            <a:off x="8183880" y="262432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Minutes editor</a:t>
            </a:r>
            <a:endParaRPr lang="en-US" sz="1300" dirty="0"/>
          </a:p>
        </p:txBody>
      </p:sp>
      <p:sp>
        <p:nvSpPr>
          <p:cNvPr id="19" name="Text 16"/>
          <p:cNvSpPr/>
          <p:nvPr/>
        </p:nvSpPr>
        <p:spPr>
          <a:xfrm>
            <a:off x="8183880" y="297180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Draft, approve, and issue minutes - including flying minutes.</a:t>
            </a:r>
            <a:endParaRPr lang="en-US" sz="1000" dirty="0"/>
          </a:p>
        </p:txBody>
      </p:sp>
      <p:sp>
        <p:nvSpPr>
          <p:cNvPr id="20" name="Shape 17"/>
          <p:cNvSpPr/>
          <p:nvPr/>
        </p:nvSpPr>
        <p:spPr>
          <a:xfrm>
            <a:off x="548640" y="365760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1" name="Shape 18"/>
          <p:cNvSpPr/>
          <p:nvPr/>
        </p:nvSpPr>
        <p:spPr>
          <a:xfrm>
            <a:off x="786384" y="3849624"/>
            <a:ext cx="530352" cy="530352"/>
          </a:xfrm>
          <a:prstGeom prst="ellipse">
            <a:avLst/>
          </a:prstGeom>
          <a:solidFill>
            <a:srgbClr val="D9A441"/>
          </a:solidFill>
          <a:ln/>
        </p:spPr>
      </p:sp>
      <p:sp>
        <p:nvSpPr>
          <p:cNvPr id="22" name="Text 19"/>
          <p:cNvSpPr/>
          <p:nvPr/>
        </p:nvSpPr>
        <p:spPr>
          <a:xfrm>
            <a:off x="786384" y="384962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4</a:t>
            </a:r>
            <a:endParaRPr lang="en-US" sz="1500" dirty="0"/>
          </a:p>
        </p:txBody>
      </p:sp>
      <p:sp>
        <p:nvSpPr>
          <p:cNvPr id="23" name="Text 20"/>
          <p:cNvSpPr/>
          <p:nvPr/>
        </p:nvSpPr>
        <p:spPr>
          <a:xfrm>
            <a:off x="777240" y="449884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AI meeting transcription</a:t>
            </a:r>
            <a:endParaRPr lang="en-US" sz="1300" dirty="0"/>
          </a:p>
        </p:txBody>
      </p:sp>
      <p:sp>
        <p:nvSpPr>
          <p:cNvPr id="24" name="Text 21"/>
          <p:cNvSpPr/>
          <p:nvPr/>
        </p:nvSpPr>
        <p:spPr>
          <a:xfrm>
            <a:off x="777240" y="484632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Audio-to-text pipeline with AI cleanup to support minute drafting.</a:t>
            </a:r>
            <a:endParaRPr lang="en-US" sz="1000" dirty="0"/>
          </a:p>
        </p:txBody>
      </p:sp>
      <p:sp>
        <p:nvSpPr>
          <p:cNvPr id="25" name="Shape 22"/>
          <p:cNvSpPr/>
          <p:nvPr/>
        </p:nvSpPr>
        <p:spPr>
          <a:xfrm>
            <a:off x="4251960" y="365760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6" name="Shape 23"/>
          <p:cNvSpPr/>
          <p:nvPr/>
        </p:nvSpPr>
        <p:spPr>
          <a:xfrm>
            <a:off x="4489704" y="3849624"/>
            <a:ext cx="530352" cy="530352"/>
          </a:xfrm>
          <a:prstGeom prst="ellipse">
            <a:avLst/>
          </a:prstGeom>
          <a:solidFill>
            <a:srgbClr val="D9A441"/>
          </a:solidFill>
          <a:ln/>
        </p:spPr>
      </p:sp>
      <p:sp>
        <p:nvSpPr>
          <p:cNvPr id="27" name="Text 24"/>
          <p:cNvSpPr/>
          <p:nvPr/>
        </p:nvSpPr>
        <p:spPr>
          <a:xfrm>
            <a:off x="4489704" y="384962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5</a:t>
            </a:r>
            <a:endParaRPr lang="en-US" sz="1500" dirty="0"/>
          </a:p>
        </p:txBody>
      </p:sp>
      <p:sp>
        <p:nvSpPr>
          <p:cNvPr id="28" name="Text 25"/>
          <p:cNvSpPr/>
          <p:nvPr/>
        </p:nvSpPr>
        <p:spPr>
          <a:xfrm>
            <a:off x="4480560" y="449884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Sitting workspace</a:t>
            </a:r>
            <a:endParaRPr lang="en-US" sz="1300" dirty="0"/>
          </a:p>
        </p:txBody>
      </p:sp>
      <p:sp>
        <p:nvSpPr>
          <p:cNvPr id="29" name="Text 26"/>
          <p:cNvSpPr/>
          <p:nvPr/>
        </p:nvSpPr>
        <p:spPr>
          <a:xfrm>
            <a:off x="4480560" y="484632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 project-board view of a sitting: queued submissions as tasks, drag-to-schedule.</a:t>
            </a:r>
            <a:endParaRPr lang="en-US" sz="1000" dirty="0"/>
          </a:p>
        </p:txBody>
      </p:sp>
      <p:sp>
        <p:nvSpPr>
          <p:cNvPr id="30" name="Shape 27"/>
          <p:cNvSpPr/>
          <p:nvPr/>
        </p:nvSpPr>
        <p:spPr>
          <a:xfrm>
            <a:off x="7955280" y="365760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31" name="Shape 28"/>
          <p:cNvSpPr/>
          <p:nvPr/>
        </p:nvSpPr>
        <p:spPr>
          <a:xfrm>
            <a:off x="8193024" y="3849624"/>
            <a:ext cx="530352" cy="530352"/>
          </a:xfrm>
          <a:prstGeom prst="ellipse">
            <a:avLst/>
          </a:prstGeom>
          <a:solidFill>
            <a:srgbClr val="D9A441"/>
          </a:solidFill>
          <a:ln/>
        </p:spPr>
      </p:sp>
      <p:sp>
        <p:nvSpPr>
          <p:cNvPr id="32" name="Text 29"/>
          <p:cNvSpPr/>
          <p:nvPr/>
        </p:nvSpPr>
        <p:spPr>
          <a:xfrm>
            <a:off x="8193024" y="384962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6</a:t>
            </a:r>
            <a:endParaRPr lang="en-US" sz="1500" dirty="0"/>
          </a:p>
        </p:txBody>
      </p:sp>
      <p:sp>
        <p:nvSpPr>
          <p:cNvPr id="33" name="Text 30"/>
          <p:cNvSpPr/>
          <p:nvPr/>
        </p:nvSpPr>
        <p:spPr>
          <a:xfrm>
            <a:off x="8183880" y="449884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Decision register</a:t>
            </a:r>
            <a:endParaRPr lang="en-US" sz="1300" dirty="0"/>
          </a:p>
        </p:txBody>
      </p:sp>
      <p:sp>
        <p:nvSpPr>
          <p:cNvPr id="34" name="Text 31"/>
          <p:cNvSpPr/>
          <p:nvPr/>
        </p:nvSpPr>
        <p:spPr>
          <a:xfrm>
            <a:off x="8183880" y="484632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Searchable, auditable record of every Commission outcome.</a:t>
            </a:r>
            <a:endParaRPr lang="en-US" sz="1000" dirty="0"/>
          </a:p>
        </p:txBody>
      </p:sp>
      <p:sp>
        <p:nvSpPr>
          <p:cNvPr id="35" name="Text 3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6" name="Text 3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POST-DECISION</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The decision doesn't disappear after the minute is signed</a:t>
            </a:r>
            <a:endParaRPr lang="en-US" sz="2900" dirty="0"/>
          </a:p>
        </p:txBody>
      </p:sp>
      <p:sp>
        <p:nvSpPr>
          <p:cNvPr id="5" name="Text 2"/>
          <p:cNvSpPr/>
          <p:nvPr/>
        </p:nvSpPr>
        <p:spPr>
          <a:xfrm>
            <a:off x="1691640" y="1554480"/>
            <a:ext cx="10058400" cy="640080"/>
          </a:xfrm>
          <a:prstGeom prst="rect">
            <a:avLst/>
          </a:prstGeom>
          <a:noFill/>
          <a:ln/>
        </p:spPr>
        <p:txBody>
          <a:bodyPr wrap="square" rtlCol="0" anchor="ctr"/>
          <a:lstStyle/>
          <a:p>
            <a:pPr marL="0" indent="0">
              <a:lnSpc>
                <a:spcPct val="130000"/>
              </a:lnSpc>
              <a:buNone/>
            </a:pPr>
            <a:r>
              <a:rPr lang="en-US" sz="1350" dirty="0">
                <a:solidFill>
                  <a:srgbClr val="EDE8F7"/>
                </a:solidFill>
                <a:latin typeface="Calibri" pitchFamily="34" charset="0"/>
                <a:ea typeface="Calibri" pitchFamily="34" charset="-122"/>
                <a:cs typeface="Calibri" pitchFamily="34" charset="-120"/>
              </a:rPr>
              <a:t>Commission decisions become trackable tasks - assigned, sub-divided, and status-reported - so implementation is visible, not assumed.</a:t>
            </a:r>
            <a:endParaRPr lang="en-US" sz="1350" dirty="0"/>
          </a:p>
        </p:txBody>
      </p:sp>
      <p:sp>
        <p:nvSpPr>
          <p:cNvPr id="6" name="Shape 3"/>
          <p:cNvSpPr/>
          <p:nvPr/>
        </p:nvSpPr>
        <p:spPr>
          <a:xfrm>
            <a:off x="777240" y="2560320"/>
            <a:ext cx="2446020" cy="1280160"/>
          </a:xfrm>
          <a:prstGeom prst="roundRect">
            <a:avLst>
              <a:gd name="adj" fmla="val 5714"/>
            </a:avLst>
          </a:prstGeom>
          <a:solidFill>
            <a:srgbClr val="241150"/>
          </a:solidFill>
          <a:ln/>
        </p:spPr>
      </p:sp>
      <p:sp>
        <p:nvSpPr>
          <p:cNvPr id="7" name="Text 4"/>
          <p:cNvSpPr/>
          <p:nvPr/>
        </p:nvSpPr>
        <p:spPr>
          <a:xfrm>
            <a:off x="86868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Decision entered</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&amp; assigned</a:t>
            </a:r>
            <a:endParaRPr lang="en-US" sz="1300" dirty="0"/>
          </a:p>
        </p:txBody>
      </p:sp>
      <p:sp>
        <p:nvSpPr>
          <p:cNvPr id="8" name="Shape 5"/>
          <p:cNvSpPr/>
          <p:nvPr/>
        </p:nvSpPr>
        <p:spPr>
          <a:xfrm>
            <a:off x="3204972" y="3108960"/>
            <a:ext cx="292608" cy="182880"/>
          </a:xfrm>
          <a:prstGeom prst="rightArrow">
            <a:avLst/>
          </a:prstGeom>
          <a:solidFill>
            <a:srgbClr val="D9A441"/>
          </a:solidFill>
          <a:ln/>
        </p:spPr>
      </p:sp>
      <p:sp>
        <p:nvSpPr>
          <p:cNvPr id="9" name="Shape 6"/>
          <p:cNvSpPr/>
          <p:nvPr/>
        </p:nvSpPr>
        <p:spPr>
          <a:xfrm>
            <a:off x="3497580" y="2560320"/>
            <a:ext cx="2446020" cy="1280160"/>
          </a:xfrm>
          <a:prstGeom prst="roundRect">
            <a:avLst>
              <a:gd name="adj" fmla="val 5714"/>
            </a:avLst>
          </a:prstGeom>
          <a:solidFill>
            <a:srgbClr val="241150"/>
          </a:solidFill>
          <a:ln/>
        </p:spPr>
      </p:sp>
      <p:sp>
        <p:nvSpPr>
          <p:cNvPr id="10" name="Text 7"/>
          <p:cNvSpPr/>
          <p:nvPr/>
        </p:nvSpPr>
        <p:spPr>
          <a:xfrm>
            <a:off x="358902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Commission task</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created</a:t>
            </a:r>
            <a:endParaRPr lang="en-US" sz="1300" dirty="0"/>
          </a:p>
        </p:txBody>
      </p:sp>
      <p:sp>
        <p:nvSpPr>
          <p:cNvPr id="11" name="Shape 8"/>
          <p:cNvSpPr/>
          <p:nvPr/>
        </p:nvSpPr>
        <p:spPr>
          <a:xfrm>
            <a:off x="5925312" y="3108960"/>
            <a:ext cx="292608" cy="182880"/>
          </a:xfrm>
          <a:prstGeom prst="rightArrow">
            <a:avLst/>
          </a:prstGeom>
          <a:solidFill>
            <a:srgbClr val="D9A441"/>
          </a:solidFill>
          <a:ln/>
        </p:spPr>
      </p:sp>
      <p:sp>
        <p:nvSpPr>
          <p:cNvPr id="12" name="Shape 9"/>
          <p:cNvSpPr/>
          <p:nvPr/>
        </p:nvSpPr>
        <p:spPr>
          <a:xfrm>
            <a:off x="6217920" y="2560320"/>
            <a:ext cx="2446020" cy="1280160"/>
          </a:xfrm>
          <a:prstGeom prst="roundRect">
            <a:avLst>
              <a:gd name="adj" fmla="val 5714"/>
            </a:avLst>
          </a:prstGeom>
          <a:solidFill>
            <a:srgbClr val="241150"/>
          </a:solidFill>
          <a:ln/>
        </p:spPr>
      </p:sp>
      <p:sp>
        <p:nvSpPr>
          <p:cNvPr id="13" name="Text 10"/>
          <p:cNvSpPr/>
          <p:nvPr/>
        </p:nvSpPr>
        <p:spPr>
          <a:xfrm>
            <a:off x="630936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Sub-tasks &amp;</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status updates</a:t>
            </a:r>
            <a:endParaRPr lang="en-US" sz="1300" dirty="0"/>
          </a:p>
        </p:txBody>
      </p:sp>
      <p:sp>
        <p:nvSpPr>
          <p:cNvPr id="14" name="Shape 11"/>
          <p:cNvSpPr/>
          <p:nvPr/>
        </p:nvSpPr>
        <p:spPr>
          <a:xfrm>
            <a:off x="8645652" y="3108960"/>
            <a:ext cx="292608" cy="182880"/>
          </a:xfrm>
          <a:prstGeom prst="rightArrow">
            <a:avLst/>
          </a:prstGeom>
          <a:solidFill>
            <a:srgbClr val="D9A441"/>
          </a:solidFill>
          <a:ln/>
        </p:spPr>
      </p:sp>
      <p:sp>
        <p:nvSpPr>
          <p:cNvPr id="15" name="Shape 12"/>
          <p:cNvSpPr/>
          <p:nvPr/>
        </p:nvSpPr>
        <p:spPr>
          <a:xfrm>
            <a:off x="8938260" y="2560320"/>
            <a:ext cx="2446020" cy="1280160"/>
          </a:xfrm>
          <a:prstGeom prst="roundRect">
            <a:avLst>
              <a:gd name="adj" fmla="val 5714"/>
            </a:avLst>
          </a:prstGeom>
          <a:solidFill>
            <a:srgbClr val="241150"/>
          </a:solidFill>
          <a:ln/>
        </p:spPr>
      </p:sp>
      <p:sp>
        <p:nvSpPr>
          <p:cNvPr id="16" name="Text 13"/>
          <p:cNvSpPr/>
          <p:nvPr/>
        </p:nvSpPr>
        <p:spPr>
          <a:xfrm>
            <a:off x="902970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Implementation</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report</a:t>
            </a:r>
            <a:endParaRPr lang="en-US" sz="1300" dirty="0"/>
          </a:p>
        </p:txBody>
      </p:sp>
      <p:sp>
        <p:nvSpPr>
          <p:cNvPr id="17" name="Shape 14"/>
          <p:cNvSpPr/>
          <p:nvPr/>
        </p:nvSpPr>
        <p:spPr>
          <a:xfrm>
            <a:off x="777240" y="4206240"/>
            <a:ext cx="338328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18" name="Text 15"/>
          <p:cNvSpPr/>
          <p:nvPr/>
        </p:nvSpPr>
        <p:spPr>
          <a:xfrm>
            <a:off x="1005840" y="4434840"/>
            <a:ext cx="292608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OPSC Managers</a:t>
            </a:r>
            <a:endParaRPr lang="en-US" sz="1400" dirty="0"/>
          </a:p>
        </p:txBody>
      </p:sp>
      <p:sp>
        <p:nvSpPr>
          <p:cNvPr id="19" name="Text 16"/>
          <p:cNvSpPr/>
          <p:nvPr/>
        </p:nvSpPr>
        <p:spPr>
          <a:xfrm>
            <a:off x="1005840" y="4828032"/>
            <a:ext cx="2926080" cy="822960"/>
          </a:xfrm>
          <a:prstGeom prst="rect">
            <a:avLst/>
          </a:prstGeom>
          <a:noFill/>
          <a:ln/>
        </p:spPr>
        <p:txBody>
          <a:bodyPr wrap="square" rtlCol="0" anchor="ctr"/>
          <a:lstStyle/>
          <a:p>
            <a:pPr marL="0" indent="0">
              <a:lnSpc>
                <a:spcPct val="120000"/>
              </a:lnSpc>
              <a:buNone/>
            </a:pPr>
            <a:r>
              <a:rPr lang="en-US" sz="1150" dirty="0">
                <a:solidFill>
                  <a:srgbClr val="5C5470"/>
                </a:solidFill>
                <a:latin typeface="Calibri" pitchFamily="34" charset="0"/>
                <a:ea typeface="Calibri" pitchFamily="34" charset="-122"/>
                <a:cs typeface="Calibri" pitchFamily="34" charset="-120"/>
              </a:rPr>
              <a:t>own overall task delivery</a:t>
            </a:r>
            <a:endParaRPr lang="en-US" sz="1150" dirty="0"/>
          </a:p>
        </p:txBody>
      </p:sp>
      <p:sp>
        <p:nvSpPr>
          <p:cNvPr id="20" name="Shape 17"/>
          <p:cNvSpPr/>
          <p:nvPr/>
        </p:nvSpPr>
        <p:spPr>
          <a:xfrm>
            <a:off x="4434840" y="4206240"/>
            <a:ext cx="338328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1" name="Text 18"/>
          <p:cNvSpPr/>
          <p:nvPr/>
        </p:nvSpPr>
        <p:spPr>
          <a:xfrm>
            <a:off x="4663440" y="4434840"/>
            <a:ext cx="292608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Principal Officers</a:t>
            </a:r>
            <a:endParaRPr lang="en-US" sz="1400" dirty="0"/>
          </a:p>
        </p:txBody>
      </p:sp>
      <p:sp>
        <p:nvSpPr>
          <p:cNvPr id="22" name="Text 19"/>
          <p:cNvSpPr/>
          <p:nvPr/>
        </p:nvSpPr>
        <p:spPr>
          <a:xfrm>
            <a:off x="4663440" y="4828032"/>
            <a:ext cx="2926080" cy="822960"/>
          </a:xfrm>
          <a:prstGeom prst="rect">
            <a:avLst/>
          </a:prstGeom>
          <a:noFill/>
          <a:ln/>
        </p:spPr>
        <p:txBody>
          <a:bodyPr wrap="square" rtlCol="0" anchor="ctr"/>
          <a:lstStyle/>
          <a:p>
            <a:pPr marL="0" indent="0">
              <a:lnSpc>
                <a:spcPct val="120000"/>
              </a:lnSpc>
              <a:buNone/>
            </a:pPr>
            <a:r>
              <a:rPr lang="en-US" sz="1150" dirty="0">
                <a:solidFill>
                  <a:srgbClr val="5C5470"/>
                </a:solidFill>
                <a:latin typeface="Calibri" pitchFamily="34" charset="0"/>
                <a:ea typeface="Calibri" pitchFamily="34" charset="-122"/>
                <a:cs typeface="Calibri" pitchFamily="34" charset="-120"/>
              </a:rPr>
              <a:t>execute assigned actions</a:t>
            </a:r>
            <a:endParaRPr lang="en-US" sz="1150" dirty="0"/>
          </a:p>
        </p:txBody>
      </p:sp>
      <p:sp>
        <p:nvSpPr>
          <p:cNvPr id="23" name="Shape 20"/>
          <p:cNvSpPr/>
          <p:nvPr/>
        </p:nvSpPr>
        <p:spPr>
          <a:xfrm>
            <a:off x="8092440" y="4206240"/>
            <a:ext cx="338328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4" name="Text 21"/>
          <p:cNvSpPr/>
          <p:nvPr/>
        </p:nvSpPr>
        <p:spPr>
          <a:xfrm>
            <a:off x="8321040" y="4434840"/>
            <a:ext cx="292608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Senior Officers</a:t>
            </a:r>
            <a:endParaRPr lang="en-US" sz="1400" dirty="0"/>
          </a:p>
        </p:txBody>
      </p:sp>
      <p:sp>
        <p:nvSpPr>
          <p:cNvPr id="25" name="Text 22"/>
          <p:cNvSpPr/>
          <p:nvPr/>
        </p:nvSpPr>
        <p:spPr>
          <a:xfrm>
            <a:off x="8321040" y="4828032"/>
            <a:ext cx="2926080" cy="822960"/>
          </a:xfrm>
          <a:prstGeom prst="rect">
            <a:avLst/>
          </a:prstGeom>
          <a:noFill/>
          <a:ln/>
        </p:spPr>
        <p:txBody>
          <a:bodyPr wrap="square" rtlCol="0" anchor="ctr"/>
          <a:lstStyle/>
          <a:p>
            <a:pPr marL="0" indent="0">
              <a:lnSpc>
                <a:spcPct val="120000"/>
              </a:lnSpc>
              <a:buNone/>
            </a:pPr>
            <a:r>
              <a:rPr lang="en-US" sz="1150" dirty="0">
                <a:solidFill>
                  <a:srgbClr val="5C5470"/>
                </a:solidFill>
                <a:latin typeface="Calibri" pitchFamily="34" charset="0"/>
                <a:ea typeface="Calibri" pitchFamily="34" charset="-122"/>
                <a:cs typeface="Calibri" pitchFamily="34" charset="-120"/>
              </a:rPr>
              <a:t>support and report progress</a:t>
            </a:r>
            <a:endParaRPr lang="en-US" sz="1150" dirty="0"/>
          </a:p>
        </p:txBody>
      </p:sp>
      <p:sp>
        <p:nvSpPr>
          <p:cNvPr id="26" name="Text 23"/>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7" name="Text 24"/>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SECURITY &amp; GOVERNANCE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Built for a government system of record</a:t>
            </a:r>
            <a:endParaRPr lang="en-US" sz="2900" dirty="0"/>
          </a:p>
        </p:txBody>
      </p:sp>
      <p:sp>
        <p:nvSpPr>
          <p:cNvPr id="5" name="Shape 2"/>
          <p:cNvSpPr/>
          <p:nvPr/>
        </p:nvSpPr>
        <p:spPr>
          <a:xfrm>
            <a:off x="621792" y="1965960"/>
            <a:ext cx="438912" cy="438912"/>
          </a:xfrm>
          <a:prstGeom prst="ellipse">
            <a:avLst/>
          </a:prstGeom>
          <a:solidFill>
            <a:srgbClr val="D9A441"/>
          </a:solidFill>
          <a:ln/>
        </p:spPr>
      </p:sp>
      <p:sp>
        <p:nvSpPr>
          <p:cNvPr id="6" name="Text 3"/>
          <p:cNvSpPr/>
          <p:nvPr/>
        </p:nvSpPr>
        <p:spPr>
          <a:xfrm>
            <a:off x="621792" y="196596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7" name="Text 4"/>
          <p:cNvSpPr/>
          <p:nvPr/>
        </p:nvSpPr>
        <p:spPr>
          <a:xfrm>
            <a:off x="1234440" y="175564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JWT authentication</a:t>
            </a:r>
            <a:endParaRPr lang="en-US" sz="1300" dirty="0"/>
          </a:p>
        </p:txBody>
      </p:sp>
      <p:sp>
        <p:nvSpPr>
          <p:cNvPr id="8" name="Text 5"/>
          <p:cNvSpPr/>
          <p:nvPr/>
        </p:nvSpPr>
        <p:spPr>
          <a:xfrm>
            <a:off x="1234440" y="208483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30-min access / 7-day refresh tokens, blacklisted on logout.</a:t>
            </a:r>
            <a:endParaRPr lang="en-US" sz="1050" dirty="0"/>
          </a:p>
        </p:txBody>
      </p:sp>
      <p:sp>
        <p:nvSpPr>
          <p:cNvPr id="9" name="Shape 6"/>
          <p:cNvSpPr/>
          <p:nvPr/>
        </p:nvSpPr>
        <p:spPr>
          <a:xfrm>
            <a:off x="6199632" y="1965960"/>
            <a:ext cx="438912" cy="438912"/>
          </a:xfrm>
          <a:prstGeom prst="ellipse">
            <a:avLst/>
          </a:prstGeom>
          <a:solidFill>
            <a:srgbClr val="D9A441"/>
          </a:solidFill>
          <a:ln/>
        </p:spPr>
      </p:sp>
      <p:sp>
        <p:nvSpPr>
          <p:cNvPr id="10" name="Text 7"/>
          <p:cNvSpPr/>
          <p:nvPr/>
        </p:nvSpPr>
        <p:spPr>
          <a:xfrm>
            <a:off x="6199632" y="196596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11" name="Text 8"/>
          <p:cNvSpPr/>
          <p:nvPr/>
        </p:nvSpPr>
        <p:spPr>
          <a:xfrm>
            <a:off x="6812280" y="175564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Two-factor (TOTP)</a:t>
            </a:r>
            <a:endParaRPr lang="en-US" sz="1300" dirty="0"/>
          </a:p>
        </p:txBody>
      </p:sp>
      <p:sp>
        <p:nvSpPr>
          <p:cNvPr id="12" name="Text 9"/>
          <p:cNvSpPr/>
          <p:nvPr/>
        </p:nvSpPr>
        <p:spPr>
          <a:xfrm>
            <a:off x="6812280" y="208483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Authenticator-app 2FA, globally enforceable for privileged roles.</a:t>
            </a:r>
            <a:endParaRPr lang="en-US" sz="1050" dirty="0"/>
          </a:p>
        </p:txBody>
      </p:sp>
      <p:sp>
        <p:nvSpPr>
          <p:cNvPr id="13" name="Shape 10"/>
          <p:cNvSpPr/>
          <p:nvPr/>
        </p:nvSpPr>
        <p:spPr>
          <a:xfrm>
            <a:off x="621792" y="3154680"/>
            <a:ext cx="438912" cy="438912"/>
          </a:xfrm>
          <a:prstGeom prst="ellipse">
            <a:avLst/>
          </a:prstGeom>
          <a:solidFill>
            <a:srgbClr val="D9A441"/>
          </a:solidFill>
          <a:ln/>
        </p:spPr>
      </p:sp>
      <p:sp>
        <p:nvSpPr>
          <p:cNvPr id="14" name="Text 11"/>
          <p:cNvSpPr/>
          <p:nvPr/>
        </p:nvSpPr>
        <p:spPr>
          <a:xfrm>
            <a:off x="621792" y="315468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15" name="Text 12"/>
          <p:cNvSpPr/>
          <p:nvPr/>
        </p:nvSpPr>
        <p:spPr>
          <a:xfrm>
            <a:off x="1234440" y="294436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Session PIN</a:t>
            </a:r>
            <a:endParaRPr lang="en-US" sz="1300" dirty="0"/>
          </a:p>
        </p:txBody>
      </p:sp>
      <p:sp>
        <p:nvSpPr>
          <p:cNvPr id="16" name="Text 13"/>
          <p:cNvSpPr/>
          <p:nvPr/>
        </p:nvSpPr>
        <p:spPr>
          <a:xfrm>
            <a:off x="1234440" y="327355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Fast re-authentication on trusted devices, time-boxed to business hours.</a:t>
            </a:r>
            <a:endParaRPr lang="en-US" sz="1050" dirty="0"/>
          </a:p>
        </p:txBody>
      </p:sp>
      <p:sp>
        <p:nvSpPr>
          <p:cNvPr id="17" name="Shape 14"/>
          <p:cNvSpPr/>
          <p:nvPr/>
        </p:nvSpPr>
        <p:spPr>
          <a:xfrm>
            <a:off x="6199632" y="3154680"/>
            <a:ext cx="438912" cy="438912"/>
          </a:xfrm>
          <a:prstGeom prst="ellipse">
            <a:avLst/>
          </a:prstGeom>
          <a:solidFill>
            <a:srgbClr val="D9A441"/>
          </a:solidFill>
          <a:ln/>
        </p:spPr>
      </p:sp>
      <p:sp>
        <p:nvSpPr>
          <p:cNvPr id="18" name="Text 15"/>
          <p:cNvSpPr/>
          <p:nvPr/>
        </p:nvSpPr>
        <p:spPr>
          <a:xfrm>
            <a:off x="6199632" y="315468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19" name="Text 16"/>
          <p:cNvSpPr/>
          <p:nvPr/>
        </p:nvSpPr>
        <p:spPr>
          <a:xfrm>
            <a:off x="6812280" y="294436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Brute-force lockout</a:t>
            </a:r>
            <a:endParaRPr lang="en-US" sz="1300" dirty="0"/>
          </a:p>
        </p:txBody>
      </p:sp>
      <p:sp>
        <p:nvSpPr>
          <p:cNvPr id="20" name="Text 17"/>
          <p:cNvSpPr/>
          <p:nvPr/>
        </p:nvSpPr>
        <p:spPr>
          <a:xfrm>
            <a:off x="6812280" y="327355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django-axes: automatic lockout after repeated failed logins.</a:t>
            </a:r>
            <a:endParaRPr lang="en-US" sz="1050" dirty="0"/>
          </a:p>
        </p:txBody>
      </p:sp>
      <p:sp>
        <p:nvSpPr>
          <p:cNvPr id="21" name="Shape 18"/>
          <p:cNvSpPr/>
          <p:nvPr/>
        </p:nvSpPr>
        <p:spPr>
          <a:xfrm>
            <a:off x="621792" y="4343400"/>
            <a:ext cx="438912" cy="438912"/>
          </a:xfrm>
          <a:prstGeom prst="ellipse">
            <a:avLst/>
          </a:prstGeom>
          <a:solidFill>
            <a:srgbClr val="D9A441"/>
          </a:solidFill>
          <a:ln/>
        </p:spPr>
      </p:sp>
      <p:sp>
        <p:nvSpPr>
          <p:cNvPr id="22" name="Text 19"/>
          <p:cNvSpPr/>
          <p:nvPr/>
        </p:nvSpPr>
        <p:spPr>
          <a:xfrm>
            <a:off x="621792" y="434340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23" name="Text 20"/>
          <p:cNvSpPr/>
          <p:nvPr/>
        </p:nvSpPr>
        <p:spPr>
          <a:xfrm>
            <a:off x="1234440" y="413308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Role-based access control</a:t>
            </a:r>
            <a:endParaRPr lang="en-US" sz="1300" dirty="0"/>
          </a:p>
        </p:txBody>
      </p:sp>
      <p:sp>
        <p:nvSpPr>
          <p:cNvPr id="24" name="Text 21"/>
          <p:cNvSpPr/>
          <p:nvPr/>
        </p:nvSpPr>
        <p:spPr>
          <a:xfrm>
            <a:off x="1234440" y="446227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Named permissions mapped to role definitions, enforced on every API call.</a:t>
            </a:r>
            <a:endParaRPr lang="en-US" sz="1050" dirty="0"/>
          </a:p>
        </p:txBody>
      </p:sp>
      <p:sp>
        <p:nvSpPr>
          <p:cNvPr id="25" name="Shape 22"/>
          <p:cNvSpPr/>
          <p:nvPr/>
        </p:nvSpPr>
        <p:spPr>
          <a:xfrm>
            <a:off x="6199632" y="4343400"/>
            <a:ext cx="438912" cy="438912"/>
          </a:xfrm>
          <a:prstGeom prst="ellipse">
            <a:avLst/>
          </a:prstGeom>
          <a:solidFill>
            <a:srgbClr val="D9A441"/>
          </a:solidFill>
          <a:ln/>
        </p:spPr>
      </p:sp>
      <p:sp>
        <p:nvSpPr>
          <p:cNvPr id="26" name="Text 23"/>
          <p:cNvSpPr/>
          <p:nvPr/>
        </p:nvSpPr>
        <p:spPr>
          <a:xfrm>
            <a:off x="6199632" y="434340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27" name="Text 24"/>
          <p:cNvSpPr/>
          <p:nvPr/>
        </p:nvSpPr>
        <p:spPr>
          <a:xfrm>
            <a:off x="6812280" y="413308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Full audit trail</a:t>
            </a:r>
            <a:endParaRPr lang="en-US" sz="1300" dirty="0"/>
          </a:p>
        </p:txBody>
      </p:sp>
      <p:sp>
        <p:nvSpPr>
          <p:cNvPr id="28" name="Text 25"/>
          <p:cNvSpPr/>
          <p:nvPr/>
        </p:nvSpPr>
        <p:spPr>
          <a:xfrm>
            <a:off x="6812280" y="446227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Every login, create, update, delete, download and transition is logged - append-only.</a:t>
            </a:r>
            <a:endParaRPr lang="en-US" sz="1050" dirty="0"/>
          </a:p>
        </p:txBody>
      </p:sp>
      <p:sp>
        <p:nvSpPr>
          <p:cNvPr id="29" name="Shape 26"/>
          <p:cNvSpPr/>
          <p:nvPr/>
        </p:nvSpPr>
        <p:spPr>
          <a:xfrm>
            <a:off x="621792" y="5532120"/>
            <a:ext cx="438912" cy="438912"/>
          </a:xfrm>
          <a:prstGeom prst="ellipse">
            <a:avLst/>
          </a:prstGeom>
          <a:solidFill>
            <a:srgbClr val="D9A441"/>
          </a:solidFill>
          <a:ln/>
        </p:spPr>
      </p:sp>
      <p:sp>
        <p:nvSpPr>
          <p:cNvPr id="30" name="Text 27"/>
          <p:cNvSpPr/>
          <p:nvPr/>
        </p:nvSpPr>
        <p:spPr>
          <a:xfrm>
            <a:off x="621792" y="553212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31" name="Text 28"/>
          <p:cNvSpPr/>
          <p:nvPr/>
        </p:nvSpPr>
        <p:spPr>
          <a:xfrm>
            <a:off x="1234440" y="532180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Confidential documents</a:t>
            </a:r>
            <a:endParaRPr lang="en-US" sz="1300" dirty="0"/>
          </a:p>
        </p:txBody>
      </p:sp>
      <p:sp>
        <p:nvSpPr>
          <p:cNvPr id="32" name="Text 29"/>
          <p:cNvSpPr/>
          <p:nvPr/>
        </p:nvSpPr>
        <p:spPr>
          <a:xfrm>
            <a:off x="1234440" y="565099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Attachments classified confidential by default.</a:t>
            </a:r>
            <a:endParaRPr lang="en-US" sz="1050" dirty="0"/>
          </a:p>
        </p:txBody>
      </p:sp>
      <p:sp>
        <p:nvSpPr>
          <p:cNvPr id="33" name="Shape 30"/>
          <p:cNvSpPr/>
          <p:nvPr/>
        </p:nvSpPr>
        <p:spPr>
          <a:xfrm>
            <a:off x="6199632" y="5532120"/>
            <a:ext cx="438912" cy="438912"/>
          </a:xfrm>
          <a:prstGeom prst="ellipse">
            <a:avLst/>
          </a:prstGeom>
          <a:solidFill>
            <a:srgbClr val="D9A441"/>
          </a:solidFill>
          <a:ln/>
        </p:spPr>
      </p:sp>
      <p:sp>
        <p:nvSpPr>
          <p:cNvPr id="34" name="Text 31"/>
          <p:cNvSpPr/>
          <p:nvPr/>
        </p:nvSpPr>
        <p:spPr>
          <a:xfrm>
            <a:off x="6199632" y="553212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35" name="Text 32"/>
          <p:cNvSpPr/>
          <p:nvPr/>
        </p:nvSpPr>
        <p:spPr>
          <a:xfrm>
            <a:off x="6812280" y="532180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Security operations tooling</a:t>
            </a:r>
            <a:endParaRPr lang="en-US" sz="1300" dirty="0"/>
          </a:p>
        </p:txBody>
      </p:sp>
      <p:sp>
        <p:nvSpPr>
          <p:cNvPr id="36" name="Text 33"/>
          <p:cNvSpPr/>
          <p:nvPr/>
        </p:nvSpPr>
        <p:spPr>
          <a:xfrm>
            <a:off x="6812280" y="565099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Built-in incident log, dependency/SAST scan results, and API inventory.</a:t>
            </a:r>
            <a:endParaRPr lang="en-US" sz="1050" dirty="0"/>
          </a:p>
        </p:txBody>
      </p:sp>
      <p:sp>
        <p:nvSpPr>
          <p:cNvPr id="37" name="Text 34"/>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8" name="Text 35"/>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AI-ASSISTED FEATURES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AI in service of the decision process</a:t>
            </a:r>
            <a:endParaRPr lang="en-US" sz="2700" dirty="0"/>
          </a:p>
        </p:txBody>
      </p:sp>
      <p:sp>
        <p:nvSpPr>
          <p:cNvPr id="5" name="Text 2"/>
          <p:cNvSpPr/>
          <p:nvPr/>
        </p:nvSpPr>
        <p:spPr>
          <a:xfrm>
            <a:off x="1691640" y="1325880"/>
            <a:ext cx="7315200" cy="365760"/>
          </a:xfrm>
          <a:prstGeom prst="rect">
            <a:avLst/>
          </a:prstGeom>
          <a:noFill/>
          <a:ln/>
        </p:spPr>
        <p:txBody>
          <a:bodyPr wrap="square" rtlCol="0" anchor="ctr"/>
          <a:lstStyle/>
          <a:p>
            <a:pPr marL="0" indent="0">
              <a:buNone/>
            </a:pPr>
            <a:r>
              <a:rPr lang="en-US" sz="1400" i="1" dirty="0">
                <a:solidFill>
                  <a:srgbClr val="CBBFE6"/>
                </a:solidFill>
                <a:latin typeface="Calibri" pitchFamily="34" charset="0"/>
                <a:ea typeface="Calibri" pitchFamily="34" charset="-122"/>
                <a:cs typeface="Calibri" pitchFamily="34" charset="-120"/>
              </a:rPr>
              <a:t>Not general HR analytics.</a:t>
            </a:r>
            <a:endParaRPr lang="en-US" sz="1400" dirty="0"/>
          </a:p>
        </p:txBody>
      </p:sp>
      <p:sp>
        <p:nvSpPr>
          <p:cNvPr id="6" name="Shape 3"/>
          <p:cNvSpPr/>
          <p:nvPr/>
        </p:nvSpPr>
        <p:spPr>
          <a:xfrm>
            <a:off x="548640" y="187452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7" name="Shape 4"/>
          <p:cNvSpPr/>
          <p:nvPr/>
        </p:nvSpPr>
        <p:spPr>
          <a:xfrm>
            <a:off x="786384" y="2048256"/>
            <a:ext cx="530352" cy="530352"/>
          </a:xfrm>
          <a:prstGeom prst="ellipse">
            <a:avLst/>
          </a:prstGeom>
          <a:solidFill>
            <a:srgbClr val="D9A441"/>
          </a:solidFill>
          <a:ln/>
        </p:spPr>
      </p:sp>
      <p:sp>
        <p:nvSpPr>
          <p:cNvPr id="8" name="Text 5"/>
          <p:cNvSpPr/>
          <p:nvPr/>
        </p:nvSpPr>
        <p:spPr>
          <a:xfrm>
            <a:off x="786384" y="204825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9" name="Text 6"/>
          <p:cNvSpPr/>
          <p:nvPr/>
        </p:nvSpPr>
        <p:spPr>
          <a:xfrm>
            <a:off x="777240" y="269748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Completeness checks</a:t>
            </a:r>
            <a:endParaRPr lang="en-US" sz="1300" dirty="0"/>
          </a:p>
        </p:txBody>
      </p:sp>
      <p:sp>
        <p:nvSpPr>
          <p:cNvPr id="10" name="Text 7"/>
          <p:cNvSpPr/>
          <p:nvPr/>
        </p:nvSpPr>
        <p:spPr>
          <a:xfrm>
            <a:off x="777240" y="302666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Flags missing information on a package before it's submitted.</a:t>
            </a:r>
            <a:endParaRPr lang="en-US" sz="1000" dirty="0"/>
          </a:p>
        </p:txBody>
      </p:sp>
      <p:sp>
        <p:nvSpPr>
          <p:cNvPr id="11" name="Shape 8"/>
          <p:cNvSpPr/>
          <p:nvPr/>
        </p:nvSpPr>
        <p:spPr>
          <a:xfrm>
            <a:off x="4251960" y="187452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12" name="Shape 9"/>
          <p:cNvSpPr/>
          <p:nvPr/>
        </p:nvSpPr>
        <p:spPr>
          <a:xfrm>
            <a:off x="4489704" y="2048256"/>
            <a:ext cx="530352" cy="530352"/>
          </a:xfrm>
          <a:prstGeom prst="ellipse">
            <a:avLst/>
          </a:prstGeom>
          <a:solidFill>
            <a:srgbClr val="D9A441"/>
          </a:solidFill>
          <a:ln/>
        </p:spPr>
      </p:sp>
      <p:sp>
        <p:nvSpPr>
          <p:cNvPr id="13" name="Text 10"/>
          <p:cNvSpPr/>
          <p:nvPr/>
        </p:nvSpPr>
        <p:spPr>
          <a:xfrm>
            <a:off x="4489704" y="204825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14" name="Text 11"/>
          <p:cNvSpPr/>
          <p:nvPr/>
        </p:nvSpPr>
        <p:spPr>
          <a:xfrm>
            <a:off x="4480560" y="269748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Document classification</a:t>
            </a:r>
            <a:endParaRPr lang="en-US" sz="1300" dirty="0"/>
          </a:p>
        </p:txBody>
      </p:sp>
      <p:sp>
        <p:nvSpPr>
          <p:cNvPr id="15" name="Text 12"/>
          <p:cNvSpPr/>
          <p:nvPr/>
        </p:nvSpPr>
        <p:spPr>
          <a:xfrm>
            <a:off x="4480560" y="302666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Assists checklist pre-fill from uploaded attachments.</a:t>
            </a:r>
            <a:endParaRPr lang="en-US" sz="1000" dirty="0"/>
          </a:p>
        </p:txBody>
      </p:sp>
      <p:sp>
        <p:nvSpPr>
          <p:cNvPr id="16" name="Shape 13"/>
          <p:cNvSpPr/>
          <p:nvPr/>
        </p:nvSpPr>
        <p:spPr>
          <a:xfrm>
            <a:off x="7955280" y="187452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17" name="Shape 14"/>
          <p:cNvSpPr/>
          <p:nvPr/>
        </p:nvSpPr>
        <p:spPr>
          <a:xfrm>
            <a:off x="8193024" y="2048256"/>
            <a:ext cx="530352" cy="530352"/>
          </a:xfrm>
          <a:prstGeom prst="ellipse">
            <a:avLst/>
          </a:prstGeom>
          <a:solidFill>
            <a:srgbClr val="D9A441"/>
          </a:solidFill>
          <a:ln/>
        </p:spPr>
      </p:sp>
      <p:sp>
        <p:nvSpPr>
          <p:cNvPr id="18" name="Text 15"/>
          <p:cNvSpPr/>
          <p:nvPr/>
        </p:nvSpPr>
        <p:spPr>
          <a:xfrm>
            <a:off x="8193024" y="204825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19" name="Text 16"/>
          <p:cNvSpPr/>
          <p:nvPr/>
        </p:nvSpPr>
        <p:spPr>
          <a:xfrm>
            <a:off x="8183880" y="269748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Executive briefs</a:t>
            </a:r>
            <a:endParaRPr lang="en-US" sz="1300" dirty="0"/>
          </a:p>
        </p:txBody>
      </p:sp>
      <p:sp>
        <p:nvSpPr>
          <p:cNvPr id="20" name="Text 17"/>
          <p:cNvSpPr/>
          <p:nvPr/>
        </p:nvSpPr>
        <p:spPr>
          <a:xfrm>
            <a:off x="8183880" y="302666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Drafts concise briefing summaries for the Secretary.</a:t>
            </a:r>
            <a:endParaRPr lang="en-US" sz="1000" dirty="0"/>
          </a:p>
        </p:txBody>
      </p:sp>
      <p:sp>
        <p:nvSpPr>
          <p:cNvPr id="21" name="Shape 18"/>
          <p:cNvSpPr/>
          <p:nvPr/>
        </p:nvSpPr>
        <p:spPr>
          <a:xfrm>
            <a:off x="548640" y="365760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22" name="Shape 19"/>
          <p:cNvSpPr/>
          <p:nvPr/>
        </p:nvSpPr>
        <p:spPr>
          <a:xfrm>
            <a:off x="786384" y="3831336"/>
            <a:ext cx="530352" cy="530352"/>
          </a:xfrm>
          <a:prstGeom prst="ellipse">
            <a:avLst/>
          </a:prstGeom>
          <a:solidFill>
            <a:srgbClr val="D9A441"/>
          </a:solidFill>
          <a:ln/>
        </p:spPr>
      </p:sp>
      <p:sp>
        <p:nvSpPr>
          <p:cNvPr id="23" name="Text 20"/>
          <p:cNvSpPr/>
          <p:nvPr/>
        </p:nvSpPr>
        <p:spPr>
          <a:xfrm>
            <a:off x="786384" y="383133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24" name="Text 21"/>
          <p:cNvSpPr/>
          <p:nvPr/>
        </p:nvSpPr>
        <p:spPr>
          <a:xfrm>
            <a:off x="777240" y="448056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Meeting transcription</a:t>
            </a:r>
            <a:endParaRPr lang="en-US" sz="1300" dirty="0"/>
          </a:p>
        </p:txBody>
      </p:sp>
      <p:sp>
        <p:nvSpPr>
          <p:cNvPr id="25" name="Text 22"/>
          <p:cNvSpPr/>
          <p:nvPr/>
        </p:nvSpPr>
        <p:spPr>
          <a:xfrm>
            <a:off x="777240" y="480974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Converts sitting audio to text and supports minutes drafting.</a:t>
            </a:r>
            <a:endParaRPr lang="en-US" sz="1000" dirty="0"/>
          </a:p>
        </p:txBody>
      </p:sp>
      <p:sp>
        <p:nvSpPr>
          <p:cNvPr id="26" name="Shape 23"/>
          <p:cNvSpPr/>
          <p:nvPr/>
        </p:nvSpPr>
        <p:spPr>
          <a:xfrm>
            <a:off x="4251960" y="365760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27" name="Shape 24"/>
          <p:cNvSpPr/>
          <p:nvPr/>
        </p:nvSpPr>
        <p:spPr>
          <a:xfrm>
            <a:off x="4489704" y="3831336"/>
            <a:ext cx="530352" cy="530352"/>
          </a:xfrm>
          <a:prstGeom prst="ellipse">
            <a:avLst/>
          </a:prstGeom>
          <a:solidFill>
            <a:srgbClr val="D9A441"/>
          </a:solidFill>
          <a:ln/>
        </p:spPr>
      </p:sp>
      <p:sp>
        <p:nvSpPr>
          <p:cNvPr id="28" name="Text 25"/>
          <p:cNvSpPr/>
          <p:nvPr/>
        </p:nvSpPr>
        <p:spPr>
          <a:xfrm>
            <a:off x="4489704" y="383133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29" name="Text 26"/>
          <p:cNvSpPr/>
          <p:nvPr/>
        </p:nvSpPr>
        <p:spPr>
          <a:xfrm>
            <a:off x="4480560" y="448056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Staff assistant chatbot</a:t>
            </a:r>
            <a:endParaRPr lang="en-US" sz="1300" dirty="0"/>
          </a:p>
        </p:txBody>
      </p:sp>
      <p:sp>
        <p:nvSpPr>
          <p:cNvPr id="30" name="Text 27"/>
          <p:cNvSpPr/>
          <p:nvPr/>
        </p:nvSpPr>
        <p:spPr>
          <a:xfrm>
            <a:off x="4480560" y="480974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Scoped to SCDMS procedures - not binding legal advice.</a:t>
            </a:r>
            <a:endParaRPr lang="en-US" sz="1000" dirty="0"/>
          </a:p>
        </p:txBody>
      </p:sp>
      <p:sp>
        <p:nvSpPr>
          <p:cNvPr id="31" name="Shape 28"/>
          <p:cNvSpPr/>
          <p:nvPr/>
        </p:nvSpPr>
        <p:spPr>
          <a:xfrm>
            <a:off x="7955280" y="365760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32" name="Shape 29"/>
          <p:cNvSpPr/>
          <p:nvPr/>
        </p:nvSpPr>
        <p:spPr>
          <a:xfrm>
            <a:off x="8193024" y="3831336"/>
            <a:ext cx="530352" cy="530352"/>
          </a:xfrm>
          <a:prstGeom prst="ellipse">
            <a:avLst/>
          </a:prstGeom>
          <a:solidFill>
            <a:srgbClr val="D9A441"/>
          </a:solidFill>
          <a:ln/>
        </p:spPr>
      </p:sp>
      <p:sp>
        <p:nvSpPr>
          <p:cNvPr id="33" name="Text 30"/>
          <p:cNvSpPr/>
          <p:nvPr/>
        </p:nvSpPr>
        <p:spPr>
          <a:xfrm>
            <a:off x="8193024" y="383133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34" name="Text 31"/>
          <p:cNvSpPr/>
          <p:nvPr/>
        </p:nvSpPr>
        <p:spPr>
          <a:xfrm>
            <a:off x="8183880" y="448056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Quality scoring</a:t>
            </a:r>
            <a:endParaRPr lang="en-US" sz="1300" dirty="0"/>
          </a:p>
        </p:txBody>
      </p:sp>
      <p:sp>
        <p:nvSpPr>
          <p:cNvPr id="35" name="Text 32"/>
          <p:cNvSpPr/>
          <p:nvPr/>
        </p:nvSpPr>
        <p:spPr>
          <a:xfrm>
            <a:off x="8183880" y="480974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Applies policy guardrails and consistency checks for reviewers.</a:t>
            </a:r>
            <a:endParaRPr lang="en-US" sz="1000" dirty="0"/>
          </a:p>
        </p:txBody>
      </p:sp>
      <p:sp>
        <p:nvSpPr>
          <p:cNvPr id="36" name="Text 33"/>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7" name="Text 34"/>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REPORTING &amp; INTELLIGENCE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From raw workflow data to decision-ready reporting</a:t>
            </a:r>
            <a:endParaRPr lang="en-US" sz="2700" dirty="0"/>
          </a:p>
        </p:txBody>
      </p:sp>
      <p:sp>
        <p:nvSpPr>
          <p:cNvPr id="5" name="Shape 2"/>
          <p:cNvSpPr/>
          <p:nvPr/>
        </p:nvSpPr>
        <p:spPr>
          <a:xfrm>
            <a:off x="548640" y="1691640"/>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22960" y="1819656"/>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Executive dashboard</a:t>
            </a:r>
            <a:endParaRPr lang="en-US" sz="1400" dirty="0"/>
          </a:p>
        </p:txBody>
      </p:sp>
      <p:sp>
        <p:nvSpPr>
          <p:cNvPr id="7" name="Text 4"/>
          <p:cNvSpPr/>
          <p:nvPr/>
        </p:nvSpPr>
        <p:spPr>
          <a:xfrm>
            <a:off x="822960" y="2203704"/>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KPIs by stage, unit, and ministry for at-a-glance oversight.</a:t>
            </a:r>
            <a:endParaRPr lang="en-US" sz="1050" dirty="0"/>
          </a:p>
        </p:txBody>
      </p:sp>
      <p:sp>
        <p:nvSpPr>
          <p:cNvPr id="8" name="Shape 5"/>
          <p:cNvSpPr/>
          <p:nvPr/>
        </p:nvSpPr>
        <p:spPr>
          <a:xfrm>
            <a:off x="8412480" y="1819656"/>
            <a:ext cx="2423160" cy="365760"/>
          </a:xfrm>
          <a:prstGeom prst="roundRect">
            <a:avLst>
              <a:gd name="adj" fmla="val 50000"/>
            </a:avLst>
          </a:prstGeom>
          <a:solidFill>
            <a:srgbClr val="E4F4EC"/>
          </a:solidFill>
          <a:ln/>
        </p:spPr>
      </p:sp>
      <p:sp>
        <p:nvSpPr>
          <p:cNvPr id="9" name="Text 6"/>
          <p:cNvSpPr/>
          <p:nvPr/>
        </p:nvSpPr>
        <p:spPr>
          <a:xfrm>
            <a:off x="8412480" y="1819656"/>
            <a:ext cx="2423160" cy="365760"/>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Live</a:t>
            </a:r>
            <a:endParaRPr lang="en-US" sz="1000" dirty="0"/>
          </a:p>
        </p:txBody>
      </p:sp>
      <p:sp>
        <p:nvSpPr>
          <p:cNvPr id="10" name="Shape 7"/>
          <p:cNvSpPr/>
          <p:nvPr/>
        </p:nvSpPr>
        <p:spPr>
          <a:xfrm>
            <a:off x="548640" y="2807208"/>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11" name="Text 8"/>
          <p:cNvSpPr/>
          <p:nvPr/>
        </p:nvSpPr>
        <p:spPr>
          <a:xfrm>
            <a:off x="822960" y="2935224"/>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SCDMS Intelligence Explorer</a:t>
            </a:r>
            <a:endParaRPr lang="en-US" sz="1400" dirty="0"/>
          </a:p>
        </p:txBody>
      </p:sp>
      <p:sp>
        <p:nvSpPr>
          <p:cNvPr id="12" name="Text 9"/>
          <p:cNvSpPr/>
          <p:nvPr/>
        </p:nvSpPr>
        <p:spPr>
          <a:xfrm>
            <a:off x="822960" y="3319272"/>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Superset-style interactive data explorer: ask a question in natural language, get a chart and a query you can refine.</a:t>
            </a:r>
            <a:endParaRPr lang="en-US" sz="1050" dirty="0"/>
          </a:p>
        </p:txBody>
      </p:sp>
      <p:sp>
        <p:nvSpPr>
          <p:cNvPr id="13" name="Shape 10"/>
          <p:cNvSpPr/>
          <p:nvPr/>
        </p:nvSpPr>
        <p:spPr>
          <a:xfrm>
            <a:off x="8412480" y="2935224"/>
            <a:ext cx="2423160" cy="365760"/>
          </a:xfrm>
          <a:prstGeom prst="roundRect">
            <a:avLst>
              <a:gd name="adj" fmla="val 50000"/>
            </a:avLst>
          </a:prstGeom>
          <a:solidFill>
            <a:srgbClr val="FBF0DC"/>
          </a:solidFill>
          <a:ln/>
        </p:spPr>
      </p:sp>
      <p:sp>
        <p:nvSpPr>
          <p:cNvPr id="14" name="Text 11"/>
          <p:cNvSpPr/>
          <p:nvPr/>
        </p:nvSpPr>
        <p:spPr>
          <a:xfrm>
            <a:off x="8412480" y="2935224"/>
            <a:ext cx="2423160" cy="365760"/>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P1 built</a:t>
            </a:r>
            <a:endParaRPr lang="en-US" sz="1000" dirty="0"/>
          </a:p>
        </p:txBody>
      </p:sp>
      <p:sp>
        <p:nvSpPr>
          <p:cNvPr id="15" name="Shape 12"/>
          <p:cNvSpPr/>
          <p:nvPr/>
        </p:nvSpPr>
        <p:spPr>
          <a:xfrm>
            <a:off x="548640" y="3922776"/>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16" name="Text 13"/>
          <p:cNvSpPr/>
          <p:nvPr/>
        </p:nvSpPr>
        <p:spPr>
          <a:xfrm>
            <a:off x="822960" y="4050792"/>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Enterprise Reporting Engine</a:t>
            </a:r>
            <a:endParaRPr lang="en-US" sz="1400" dirty="0"/>
          </a:p>
        </p:txBody>
      </p:sp>
      <p:sp>
        <p:nvSpPr>
          <p:cNvPr id="17" name="Text 14"/>
          <p:cNvSpPr/>
          <p:nvPr/>
        </p:nvSpPr>
        <p:spPr>
          <a:xfrm>
            <a:off x="822960" y="4434840"/>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Self-contained report catalog plus ad-hoc natural-language authoring, with a report library and history.</a:t>
            </a:r>
            <a:endParaRPr lang="en-US" sz="1050" dirty="0"/>
          </a:p>
        </p:txBody>
      </p:sp>
      <p:sp>
        <p:nvSpPr>
          <p:cNvPr id="18" name="Shape 15"/>
          <p:cNvSpPr/>
          <p:nvPr/>
        </p:nvSpPr>
        <p:spPr>
          <a:xfrm>
            <a:off x="8412480" y="4050792"/>
            <a:ext cx="2423160" cy="365760"/>
          </a:xfrm>
          <a:prstGeom prst="roundRect">
            <a:avLst>
              <a:gd name="adj" fmla="val 50000"/>
            </a:avLst>
          </a:prstGeom>
          <a:solidFill>
            <a:srgbClr val="FBF0DC"/>
          </a:solidFill>
          <a:ln/>
        </p:spPr>
      </p:sp>
      <p:sp>
        <p:nvSpPr>
          <p:cNvPr id="19" name="Text 16"/>
          <p:cNvSpPr/>
          <p:nvPr/>
        </p:nvSpPr>
        <p:spPr>
          <a:xfrm>
            <a:off x="8412480" y="4050792"/>
            <a:ext cx="2423160" cy="365760"/>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P1 built, pending deploy</a:t>
            </a:r>
            <a:endParaRPr lang="en-US" sz="1000" dirty="0"/>
          </a:p>
        </p:txBody>
      </p:sp>
      <p:sp>
        <p:nvSpPr>
          <p:cNvPr id="20" name="Shape 17"/>
          <p:cNvSpPr/>
          <p:nvPr/>
        </p:nvSpPr>
        <p:spPr>
          <a:xfrm>
            <a:off x="548640" y="5038344"/>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21" name="Text 18"/>
          <p:cNvSpPr/>
          <p:nvPr/>
        </p:nvSpPr>
        <p:spPr>
          <a:xfrm>
            <a:off x="822960" y="5166360"/>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Global search</a:t>
            </a:r>
            <a:endParaRPr lang="en-US" sz="1400" dirty="0"/>
          </a:p>
        </p:txBody>
      </p:sp>
      <p:sp>
        <p:nvSpPr>
          <p:cNvPr id="22" name="Text 19"/>
          <p:cNvSpPr/>
          <p:nvPr/>
        </p:nvSpPr>
        <p:spPr>
          <a:xfrm>
            <a:off x="822960" y="5550408"/>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Role-scoped full-text search across authorised submissions.</a:t>
            </a:r>
            <a:endParaRPr lang="en-US" sz="1050" dirty="0"/>
          </a:p>
        </p:txBody>
      </p:sp>
      <p:sp>
        <p:nvSpPr>
          <p:cNvPr id="23" name="Shape 20"/>
          <p:cNvSpPr/>
          <p:nvPr/>
        </p:nvSpPr>
        <p:spPr>
          <a:xfrm>
            <a:off x="8412480" y="5166360"/>
            <a:ext cx="2423160" cy="365760"/>
          </a:xfrm>
          <a:prstGeom prst="roundRect">
            <a:avLst>
              <a:gd name="adj" fmla="val 50000"/>
            </a:avLst>
          </a:prstGeom>
          <a:solidFill>
            <a:srgbClr val="E4F4EC"/>
          </a:solidFill>
          <a:ln/>
        </p:spPr>
      </p:sp>
      <p:sp>
        <p:nvSpPr>
          <p:cNvPr id="24" name="Text 21"/>
          <p:cNvSpPr/>
          <p:nvPr/>
        </p:nvSpPr>
        <p:spPr>
          <a:xfrm>
            <a:off x="8412480" y="5166360"/>
            <a:ext cx="2423160" cy="365760"/>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Live</a:t>
            </a:r>
            <a:endParaRPr lang="en-US" sz="100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LIVE WALKTHROUGH</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Let's walk through it - submission to action</a:t>
            </a:r>
            <a:endParaRPr lang="en-US" sz="2900" dirty="0"/>
          </a:p>
        </p:txBody>
      </p:sp>
      <p:sp>
        <p:nvSpPr>
          <p:cNvPr id="5" name="Text 2"/>
          <p:cNvSpPr/>
          <p:nvPr/>
        </p:nvSpPr>
        <p:spPr>
          <a:xfrm>
            <a:off x="1691640" y="1371600"/>
            <a:ext cx="10058400" cy="457200"/>
          </a:xfrm>
          <a:prstGeom prst="rect">
            <a:avLst/>
          </a:prstGeom>
          <a:noFill/>
          <a:ln/>
        </p:spPr>
        <p:txBody>
          <a:bodyPr wrap="square" rtlCol="0" anchor="ctr"/>
          <a:lstStyle/>
          <a:p>
            <a:pPr marL="0" indent="0">
              <a:lnSpc>
                <a:spcPct val="120000"/>
              </a:lnSpc>
              <a:buNone/>
            </a:pPr>
            <a:r>
              <a:rPr lang="en-US" sz="1250" dirty="0">
                <a:solidFill>
                  <a:srgbClr val="CBBFE6"/>
                </a:solidFill>
                <a:latin typeface="Calibri" pitchFamily="34" charset="0"/>
                <a:ea typeface="Calibri" pitchFamily="34" charset="-122"/>
                <a:cs typeface="Calibri" pitchFamily="34" charset="-120"/>
              </a:rPr>
              <a:t>A quick tour of the main screens a matter passes through, end to end. Not every menu - just the path a decision actually takes.</a:t>
            </a:r>
            <a:endParaRPr lang="en-US" sz="1250" dirty="0"/>
          </a:p>
        </p:txBody>
      </p:sp>
      <p:sp>
        <p:nvSpPr>
          <p:cNvPr id="6" name="Shape 3"/>
          <p:cNvSpPr/>
          <p:nvPr/>
        </p:nvSpPr>
        <p:spPr>
          <a:xfrm>
            <a:off x="548640" y="2331720"/>
            <a:ext cx="1676400" cy="1965960"/>
          </a:xfrm>
          <a:prstGeom prst="roundRect">
            <a:avLst>
              <a:gd name="adj" fmla="val 4909"/>
            </a:avLst>
          </a:prstGeom>
          <a:solidFill>
            <a:srgbClr val="F5F3FB"/>
          </a:solidFill>
          <a:ln/>
          <a:effectLst>
            <a:outerShdw blurRad="127000" dist="38100" dir="5400000" algn="bl" rotWithShape="0">
              <a:srgbClr val="1B0B3E">
                <a:alpha val="35000"/>
              </a:srgbClr>
            </a:outerShdw>
          </a:effectLst>
        </p:spPr>
      </p:sp>
      <p:sp>
        <p:nvSpPr>
          <p:cNvPr id="7" name="Shape 4"/>
          <p:cNvSpPr/>
          <p:nvPr/>
        </p:nvSpPr>
        <p:spPr>
          <a:xfrm>
            <a:off x="1121664" y="2523744"/>
            <a:ext cx="530352" cy="530352"/>
          </a:xfrm>
          <a:prstGeom prst="ellipse">
            <a:avLst/>
          </a:prstGeom>
          <a:solidFill>
            <a:srgbClr val="D9A441"/>
          </a:solidFill>
          <a:ln/>
        </p:spPr>
      </p:sp>
      <p:sp>
        <p:nvSpPr>
          <p:cNvPr id="8" name="Text 5"/>
          <p:cNvSpPr/>
          <p:nvPr/>
        </p:nvSpPr>
        <p:spPr>
          <a:xfrm>
            <a:off x="1121664"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1</a:t>
            </a:r>
            <a:endParaRPr lang="en-US" sz="1600" dirty="0"/>
          </a:p>
        </p:txBody>
      </p:sp>
      <p:sp>
        <p:nvSpPr>
          <p:cNvPr id="9" name="Text 6"/>
          <p:cNvSpPr/>
          <p:nvPr/>
        </p:nvSpPr>
        <p:spPr>
          <a:xfrm>
            <a:off x="658368"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New Submission</a:t>
            </a:r>
            <a:endParaRPr lang="en-US" sz="1250" dirty="0"/>
          </a:p>
        </p:txBody>
      </p:sp>
      <p:sp>
        <p:nvSpPr>
          <p:cNvPr id="10" name="Text 7"/>
          <p:cNvSpPr/>
          <p:nvPr/>
        </p:nvSpPr>
        <p:spPr>
          <a:xfrm>
            <a:off x="676656" y="3657600"/>
            <a:ext cx="1420368" cy="502920"/>
          </a:xfrm>
          <a:prstGeom prst="rect">
            <a:avLst/>
          </a:prstGeom>
          <a:noFill/>
          <a:ln/>
        </p:spPr>
        <p:txBody>
          <a:bodyPr wrap="square" rtlCol="0" anchor="ctr"/>
          <a:lstStyle/>
          <a:p>
            <a:pPr marL="0" indent="0" algn="ctr">
              <a:lnSpc>
                <a:spcPct val="115000"/>
              </a:lnSpc>
              <a:buNone/>
            </a:pPr>
            <a:r>
              <a:rPr lang="en-US" sz="950" dirty="0">
                <a:solidFill>
                  <a:srgbClr val="5C5470"/>
                </a:solidFill>
                <a:latin typeface="Calibri" pitchFamily="34" charset="0"/>
                <a:ea typeface="Calibri" pitchFamily="34" charset="-122"/>
                <a:cs typeface="Calibri" pitchFamily="34" charset="-120"/>
              </a:rPr>
              <a:t>Ministry lodges a digitised PSC form with attachments</a:t>
            </a:r>
            <a:endParaRPr lang="en-US" sz="950" dirty="0"/>
          </a:p>
        </p:txBody>
      </p:sp>
      <p:sp>
        <p:nvSpPr>
          <p:cNvPr id="11" name="Shape 8"/>
          <p:cNvSpPr/>
          <p:nvPr/>
        </p:nvSpPr>
        <p:spPr>
          <a:xfrm>
            <a:off x="2206752" y="3223260"/>
            <a:ext cx="219456" cy="182880"/>
          </a:xfrm>
          <a:prstGeom prst="rightArrow">
            <a:avLst/>
          </a:prstGeom>
          <a:solidFill>
            <a:srgbClr val="D9A441"/>
          </a:solidFill>
          <a:ln/>
        </p:spPr>
      </p:sp>
      <p:sp>
        <p:nvSpPr>
          <p:cNvPr id="12" name="Shape 9"/>
          <p:cNvSpPr/>
          <p:nvPr/>
        </p:nvSpPr>
        <p:spPr>
          <a:xfrm>
            <a:off x="2426208" y="2331720"/>
            <a:ext cx="1676400" cy="1965960"/>
          </a:xfrm>
          <a:prstGeom prst="roundRect">
            <a:avLst>
              <a:gd name="adj" fmla="val 4909"/>
            </a:avLst>
          </a:prstGeom>
          <a:solidFill>
            <a:srgbClr val="1E0E42"/>
          </a:solidFill>
          <a:ln/>
          <a:effectLst>
            <a:outerShdw blurRad="127000" dist="38100" dir="5400000" algn="bl" rotWithShape="0">
              <a:srgbClr val="1B0B3E">
                <a:alpha val="35000"/>
              </a:srgbClr>
            </a:outerShdw>
          </a:effectLst>
        </p:spPr>
      </p:sp>
      <p:sp>
        <p:nvSpPr>
          <p:cNvPr id="13" name="Shape 10"/>
          <p:cNvSpPr/>
          <p:nvPr/>
        </p:nvSpPr>
        <p:spPr>
          <a:xfrm>
            <a:off x="2999232" y="2523744"/>
            <a:ext cx="530352" cy="530352"/>
          </a:xfrm>
          <a:prstGeom prst="ellipse">
            <a:avLst/>
          </a:prstGeom>
          <a:solidFill>
            <a:srgbClr val="D9A441"/>
          </a:solidFill>
          <a:ln/>
        </p:spPr>
      </p:sp>
      <p:sp>
        <p:nvSpPr>
          <p:cNvPr id="14" name="Text 11"/>
          <p:cNvSpPr/>
          <p:nvPr/>
        </p:nvSpPr>
        <p:spPr>
          <a:xfrm>
            <a:off x="2999232"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2535936"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Assessment</a:t>
            </a:r>
            <a:endParaRPr lang="en-US" sz="1250" dirty="0"/>
          </a:p>
        </p:txBody>
      </p:sp>
      <p:sp>
        <p:nvSpPr>
          <p:cNvPr id="16" name="Text 13"/>
          <p:cNvSpPr/>
          <p:nvPr/>
        </p:nvSpPr>
        <p:spPr>
          <a:xfrm>
            <a:off x="2554224" y="3657600"/>
            <a:ext cx="1420368" cy="502920"/>
          </a:xfrm>
          <a:prstGeom prst="rect">
            <a:avLst/>
          </a:prstGeom>
          <a:noFill/>
          <a:ln/>
        </p:spPr>
        <p:txBody>
          <a:bodyPr wrap="square" rtlCol="0" anchor="ctr"/>
          <a:lstStyle/>
          <a:p>
            <a:pPr marL="0" indent="0" algn="ctr">
              <a:lnSpc>
                <a:spcPct val="115000"/>
              </a:lnSpc>
              <a:buNone/>
            </a:pPr>
            <a:r>
              <a:rPr lang="en-US" sz="950" dirty="0">
                <a:solidFill>
                  <a:srgbClr val="CBBFE6"/>
                </a:solidFill>
                <a:latin typeface="Calibri" pitchFamily="34" charset="0"/>
                <a:ea typeface="Calibri" pitchFamily="34" charset="-122"/>
                <a:cs typeface="Calibri" pitchFamily="34" charset="-120"/>
              </a:rPr>
              <a:t>Unit manager checklist, then principal assessment</a:t>
            </a:r>
            <a:endParaRPr lang="en-US" sz="950" dirty="0"/>
          </a:p>
        </p:txBody>
      </p:sp>
      <p:sp>
        <p:nvSpPr>
          <p:cNvPr id="17" name="Shape 14"/>
          <p:cNvSpPr/>
          <p:nvPr/>
        </p:nvSpPr>
        <p:spPr>
          <a:xfrm>
            <a:off x="4084320" y="3223260"/>
            <a:ext cx="219456" cy="182880"/>
          </a:xfrm>
          <a:prstGeom prst="rightArrow">
            <a:avLst/>
          </a:prstGeom>
          <a:solidFill>
            <a:srgbClr val="D9A441"/>
          </a:solidFill>
          <a:ln/>
        </p:spPr>
      </p:sp>
      <p:sp>
        <p:nvSpPr>
          <p:cNvPr id="18" name="Shape 15"/>
          <p:cNvSpPr/>
          <p:nvPr/>
        </p:nvSpPr>
        <p:spPr>
          <a:xfrm>
            <a:off x="4303776" y="2331720"/>
            <a:ext cx="1676400" cy="1965960"/>
          </a:xfrm>
          <a:prstGeom prst="roundRect">
            <a:avLst>
              <a:gd name="adj" fmla="val 4909"/>
            </a:avLst>
          </a:prstGeom>
          <a:solidFill>
            <a:srgbClr val="F5F3FB"/>
          </a:solidFill>
          <a:ln/>
          <a:effectLst>
            <a:outerShdw blurRad="127000" dist="38100" dir="5400000" algn="bl" rotWithShape="0">
              <a:srgbClr val="1B0B3E">
                <a:alpha val="35000"/>
              </a:srgbClr>
            </a:outerShdw>
          </a:effectLst>
        </p:spPr>
      </p:sp>
      <p:sp>
        <p:nvSpPr>
          <p:cNvPr id="19" name="Shape 16"/>
          <p:cNvSpPr/>
          <p:nvPr/>
        </p:nvSpPr>
        <p:spPr>
          <a:xfrm>
            <a:off x="4876800" y="2523744"/>
            <a:ext cx="530352" cy="530352"/>
          </a:xfrm>
          <a:prstGeom prst="ellipse">
            <a:avLst/>
          </a:prstGeom>
          <a:solidFill>
            <a:srgbClr val="D9A441"/>
          </a:solidFill>
          <a:ln/>
        </p:spPr>
      </p:sp>
      <p:sp>
        <p:nvSpPr>
          <p:cNvPr id="20" name="Text 17"/>
          <p:cNvSpPr/>
          <p:nvPr/>
        </p:nvSpPr>
        <p:spPr>
          <a:xfrm>
            <a:off x="4876800"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3</a:t>
            </a:r>
            <a:endParaRPr lang="en-US" sz="1600" dirty="0"/>
          </a:p>
        </p:txBody>
      </p:sp>
      <p:sp>
        <p:nvSpPr>
          <p:cNvPr id="21" name="Text 18"/>
          <p:cNvSpPr/>
          <p:nvPr/>
        </p:nvSpPr>
        <p:spPr>
          <a:xfrm>
            <a:off x="4413504"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Agenda &amp; Sitting</a:t>
            </a:r>
            <a:endParaRPr lang="en-US" sz="1250" dirty="0"/>
          </a:p>
        </p:txBody>
      </p:sp>
      <p:sp>
        <p:nvSpPr>
          <p:cNvPr id="22" name="Text 19"/>
          <p:cNvSpPr/>
          <p:nvPr/>
        </p:nvSpPr>
        <p:spPr>
          <a:xfrm>
            <a:off x="4431792" y="3657600"/>
            <a:ext cx="1420368" cy="502920"/>
          </a:xfrm>
          <a:prstGeom prst="rect">
            <a:avLst/>
          </a:prstGeom>
          <a:noFill/>
          <a:ln/>
        </p:spPr>
        <p:txBody>
          <a:bodyPr wrap="square" rtlCol="0" anchor="ctr"/>
          <a:lstStyle/>
          <a:p>
            <a:pPr marL="0" indent="0" algn="ctr">
              <a:lnSpc>
                <a:spcPct val="115000"/>
              </a:lnSpc>
              <a:buNone/>
            </a:pPr>
            <a:r>
              <a:rPr lang="en-US" sz="950" dirty="0">
                <a:solidFill>
                  <a:srgbClr val="5C5470"/>
                </a:solidFill>
                <a:latin typeface="Calibri" pitchFamily="34" charset="0"/>
                <a:ea typeface="Calibri" pitchFamily="34" charset="-122"/>
                <a:cs typeface="Calibri" pitchFamily="34" charset="-120"/>
              </a:rPr>
              <a:t>Matter tabled and deliberated at a Commission sitting</a:t>
            </a:r>
            <a:endParaRPr lang="en-US" sz="950" dirty="0"/>
          </a:p>
        </p:txBody>
      </p:sp>
      <p:sp>
        <p:nvSpPr>
          <p:cNvPr id="23" name="Shape 20"/>
          <p:cNvSpPr/>
          <p:nvPr/>
        </p:nvSpPr>
        <p:spPr>
          <a:xfrm>
            <a:off x="5961888" y="3223260"/>
            <a:ext cx="219456" cy="182880"/>
          </a:xfrm>
          <a:prstGeom prst="rightArrow">
            <a:avLst/>
          </a:prstGeom>
          <a:solidFill>
            <a:srgbClr val="D9A441"/>
          </a:solidFill>
          <a:ln/>
        </p:spPr>
      </p:sp>
      <p:sp>
        <p:nvSpPr>
          <p:cNvPr id="24" name="Shape 21"/>
          <p:cNvSpPr/>
          <p:nvPr/>
        </p:nvSpPr>
        <p:spPr>
          <a:xfrm>
            <a:off x="6181344" y="2331720"/>
            <a:ext cx="1676400" cy="1965960"/>
          </a:xfrm>
          <a:prstGeom prst="roundRect">
            <a:avLst>
              <a:gd name="adj" fmla="val 4909"/>
            </a:avLst>
          </a:prstGeom>
          <a:solidFill>
            <a:srgbClr val="1E0E42"/>
          </a:solidFill>
          <a:ln/>
          <a:effectLst>
            <a:outerShdw blurRad="127000" dist="38100" dir="5400000" algn="bl" rotWithShape="0">
              <a:srgbClr val="1B0B3E">
                <a:alpha val="35000"/>
              </a:srgbClr>
            </a:outerShdw>
          </a:effectLst>
        </p:spPr>
      </p:sp>
      <p:sp>
        <p:nvSpPr>
          <p:cNvPr id="25" name="Shape 22"/>
          <p:cNvSpPr/>
          <p:nvPr/>
        </p:nvSpPr>
        <p:spPr>
          <a:xfrm>
            <a:off x="6754368" y="2523744"/>
            <a:ext cx="530352" cy="530352"/>
          </a:xfrm>
          <a:prstGeom prst="ellipse">
            <a:avLst/>
          </a:prstGeom>
          <a:solidFill>
            <a:srgbClr val="D9A441"/>
          </a:solidFill>
          <a:ln/>
        </p:spPr>
      </p:sp>
      <p:sp>
        <p:nvSpPr>
          <p:cNvPr id="26" name="Text 23"/>
          <p:cNvSpPr/>
          <p:nvPr/>
        </p:nvSpPr>
        <p:spPr>
          <a:xfrm>
            <a:off x="6754368"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4</a:t>
            </a:r>
            <a:endParaRPr lang="en-US" sz="1600" dirty="0"/>
          </a:p>
        </p:txBody>
      </p:sp>
      <p:sp>
        <p:nvSpPr>
          <p:cNvPr id="27" name="Text 24"/>
          <p:cNvSpPr/>
          <p:nvPr/>
        </p:nvSpPr>
        <p:spPr>
          <a:xfrm>
            <a:off x="6291072"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Minutes</a:t>
            </a:r>
            <a:endParaRPr lang="en-US" sz="1250" dirty="0"/>
          </a:p>
        </p:txBody>
      </p:sp>
      <p:sp>
        <p:nvSpPr>
          <p:cNvPr id="28" name="Text 25"/>
          <p:cNvSpPr/>
          <p:nvPr/>
        </p:nvSpPr>
        <p:spPr>
          <a:xfrm>
            <a:off x="6309360" y="3657600"/>
            <a:ext cx="1420368" cy="502920"/>
          </a:xfrm>
          <a:prstGeom prst="rect">
            <a:avLst/>
          </a:prstGeom>
          <a:noFill/>
          <a:ln/>
        </p:spPr>
        <p:txBody>
          <a:bodyPr wrap="square" rtlCol="0" anchor="ctr"/>
          <a:lstStyle/>
          <a:p>
            <a:pPr marL="0" indent="0" algn="ctr">
              <a:lnSpc>
                <a:spcPct val="115000"/>
              </a:lnSpc>
              <a:buNone/>
            </a:pPr>
            <a:r>
              <a:rPr lang="en-US" sz="950" dirty="0">
                <a:solidFill>
                  <a:srgbClr val="CBBFE6"/>
                </a:solidFill>
                <a:latin typeface="Calibri" pitchFamily="34" charset="0"/>
                <a:ea typeface="Calibri" pitchFamily="34" charset="-122"/>
                <a:cs typeface="Calibri" pitchFamily="34" charset="-120"/>
              </a:rPr>
              <a:t>Decision recorded and minutes drafted &amp; signed</a:t>
            </a:r>
            <a:endParaRPr lang="en-US" sz="950" dirty="0"/>
          </a:p>
        </p:txBody>
      </p:sp>
      <p:sp>
        <p:nvSpPr>
          <p:cNvPr id="29" name="Shape 26"/>
          <p:cNvSpPr/>
          <p:nvPr/>
        </p:nvSpPr>
        <p:spPr>
          <a:xfrm>
            <a:off x="7839456" y="3223260"/>
            <a:ext cx="219456" cy="182880"/>
          </a:xfrm>
          <a:prstGeom prst="rightArrow">
            <a:avLst/>
          </a:prstGeom>
          <a:solidFill>
            <a:srgbClr val="D9A441"/>
          </a:solidFill>
          <a:ln/>
        </p:spPr>
      </p:sp>
      <p:sp>
        <p:nvSpPr>
          <p:cNvPr id="30" name="Shape 27"/>
          <p:cNvSpPr/>
          <p:nvPr/>
        </p:nvSpPr>
        <p:spPr>
          <a:xfrm>
            <a:off x="8058912" y="2331720"/>
            <a:ext cx="1676400" cy="1965960"/>
          </a:xfrm>
          <a:prstGeom prst="roundRect">
            <a:avLst>
              <a:gd name="adj" fmla="val 4909"/>
            </a:avLst>
          </a:prstGeom>
          <a:solidFill>
            <a:srgbClr val="F5F3FB"/>
          </a:solidFill>
          <a:ln/>
          <a:effectLst>
            <a:outerShdw blurRad="127000" dist="38100" dir="5400000" algn="bl" rotWithShape="0">
              <a:srgbClr val="1B0B3E">
                <a:alpha val="35000"/>
              </a:srgbClr>
            </a:outerShdw>
          </a:effectLst>
        </p:spPr>
      </p:sp>
      <p:sp>
        <p:nvSpPr>
          <p:cNvPr id="31" name="Shape 28"/>
          <p:cNvSpPr/>
          <p:nvPr/>
        </p:nvSpPr>
        <p:spPr>
          <a:xfrm>
            <a:off x="8631936" y="2523744"/>
            <a:ext cx="530352" cy="530352"/>
          </a:xfrm>
          <a:prstGeom prst="ellipse">
            <a:avLst/>
          </a:prstGeom>
          <a:solidFill>
            <a:srgbClr val="D9A441"/>
          </a:solidFill>
          <a:ln/>
        </p:spPr>
      </p:sp>
      <p:sp>
        <p:nvSpPr>
          <p:cNvPr id="32" name="Text 29"/>
          <p:cNvSpPr/>
          <p:nvPr/>
        </p:nvSpPr>
        <p:spPr>
          <a:xfrm>
            <a:off x="8631936"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5</a:t>
            </a:r>
            <a:endParaRPr lang="en-US" sz="1600" dirty="0"/>
          </a:p>
        </p:txBody>
      </p:sp>
      <p:sp>
        <p:nvSpPr>
          <p:cNvPr id="33" name="Text 30"/>
          <p:cNvSpPr/>
          <p:nvPr/>
        </p:nvSpPr>
        <p:spPr>
          <a:xfrm>
            <a:off x="8168640"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Task Assigned</a:t>
            </a:r>
            <a:endParaRPr lang="en-US" sz="1250" dirty="0"/>
          </a:p>
        </p:txBody>
      </p:sp>
      <p:sp>
        <p:nvSpPr>
          <p:cNvPr id="34" name="Text 31"/>
          <p:cNvSpPr/>
          <p:nvPr/>
        </p:nvSpPr>
        <p:spPr>
          <a:xfrm>
            <a:off x="8186928" y="3657600"/>
            <a:ext cx="1420368" cy="502920"/>
          </a:xfrm>
          <a:prstGeom prst="rect">
            <a:avLst/>
          </a:prstGeom>
          <a:noFill/>
          <a:ln/>
        </p:spPr>
        <p:txBody>
          <a:bodyPr wrap="square" rtlCol="0" anchor="ctr"/>
          <a:lstStyle/>
          <a:p>
            <a:pPr marL="0" indent="0" algn="ctr">
              <a:lnSpc>
                <a:spcPct val="115000"/>
              </a:lnSpc>
              <a:buNone/>
            </a:pPr>
            <a:r>
              <a:rPr lang="en-US" sz="950" dirty="0">
                <a:solidFill>
                  <a:srgbClr val="5C5470"/>
                </a:solidFill>
                <a:latin typeface="Calibri" pitchFamily="34" charset="0"/>
                <a:ea typeface="Calibri" pitchFamily="34" charset="-122"/>
                <a:cs typeface="Calibri" pitchFamily="34" charset="-120"/>
              </a:rPr>
              <a:t>Commission task created and assigned to an OPSC officer</a:t>
            </a:r>
            <a:endParaRPr lang="en-US" sz="950" dirty="0"/>
          </a:p>
        </p:txBody>
      </p:sp>
      <p:sp>
        <p:nvSpPr>
          <p:cNvPr id="35" name="Shape 32"/>
          <p:cNvSpPr/>
          <p:nvPr/>
        </p:nvSpPr>
        <p:spPr>
          <a:xfrm>
            <a:off x="9717024" y="3223260"/>
            <a:ext cx="219456" cy="182880"/>
          </a:xfrm>
          <a:prstGeom prst="rightArrow">
            <a:avLst/>
          </a:prstGeom>
          <a:solidFill>
            <a:srgbClr val="D9A441"/>
          </a:solidFill>
          <a:ln/>
        </p:spPr>
      </p:sp>
      <p:sp>
        <p:nvSpPr>
          <p:cNvPr id="36" name="Shape 33"/>
          <p:cNvSpPr/>
          <p:nvPr/>
        </p:nvSpPr>
        <p:spPr>
          <a:xfrm>
            <a:off x="9936480" y="2331720"/>
            <a:ext cx="1676400" cy="1965960"/>
          </a:xfrm>
          <a:prstGeom prst="roundRect">
            <a:avLst>
              <a:gd name="adj" fmla="val 4909"/>
            </a:avLst>
          </a:prstGeom>
          <a:solidFill>
            <a:srgbClr val="1E0E42"/>
          </a:solidFill>
          <a:ln/>
          <a:effectLst>
            <a:outerShdw blurRad="127000" dist="38100" dir="5400000" algn="bl" rotWithShape="0">
              <a:srgbClr val="1B0B3E">
                <a:alpha val="35000"/>
              </a:srgbClr>
            </a:outerShdw>
          </a:effectLst>
        </p:spPr>
      </p:sp>
      <p:sp>
        <p:nvSpPr>
          <p:cNvPr id="37" name="Shape 34"/>
          <p:cNvSpPr/>
          <p:nvPr/>
        </p:nvSpPr>
        <p:spPr>
          <a:xfrm>
            <a:off x="10509504" y="2523744"/>
            <a:ext cx="530352" cy="530352"/>
          </a:xfrm>
          <a:prstGeom prst="ellipse">
            <a:avLst/>
          </a:prstGeom>
          <a:solidFill>
            <a:srgbClr val="D9A441"/>
          </a:solidFill>
          <a:ln/>
        </p:spPr>
      </p:sp>
      <p:sp>
        <p:nvSpPr>
          <p:cNvPr id="38" name="Text 35"/>
          <p:cNvSpPr/>
          <p:nvPr/>
        </p:nvSpPr>
        <p:spPr>
          <a:xfrm>
            <a:off x="10509504"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6</a:t>
            </a:r>
            <a:endParaRPr lang="en-US" sz="1600" dirty="0"/>
          </a:p>
        </p:txBody>
      </p:sp>
      <p:sp>
        <p:nvSpPr>
          <p:cNvPr id="39" name="Text 36"/>
          <p:cNvSpPr/>
          <p:nvPr/>
        </p:nvSpPr>
        <p:spPr>
          <a:xfrm>
            <a:off x="10046208"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Subtasks &amp; Status</a:t>
            </a:r>
            <a:endParaRPr lang="en-US" sz="1250" dirty="0"/>
          </a:p>
        </p:txBody>
      </p:sp>
      <p:sp>
        <p:nvSpPr>
          <p:cNvPr id="40" name="Text 37"/>
          <p:cNvSpPr/>
          <p:nvPr/>
        </p:nvSpPr>
        <p:spPr>
          <a:xfrm>
            <a:off x="10064496" y="3657600"/>
            <a:ext cx="1420368" cy="502920"/>
          </a:xfrm>
          <a:prstGeom prst="rect">
            <a:avLst/>
          </a:prstGeom>
          <a:noFill/>
          <a:ln/>
        </p:spPr>
        <p:txBody>
          <a:bodyPr wrap="square" rtlCol="0" anchor="ctr"/>
          <a:lstStyle/>
          <a:p>
            <a:pPr marL="0" indent="0" algn="ctr">
              <a:lnSpc>
                <a:spcPct val="115000"/>
              </a:lnSpc>
              <a:buNone/>
            </a:pPr>
            <a:r>
              <a:rPr lang="en-US" sz="950" dirty="0">
                <a:solidFill>
                  <a:srgbClr val="CBBFE6"/>
                </a:solidFill>
                <a:latin typeface="Calibri" pitchFamily="34" charset="0"/>
                <a:ea typeface="Calibri" pitchFamily="34" charset="-122"/>
                <a:cs typeface="Calibri" pitchFamily="34" charset="-120"/>
              </a:rPr>
              <a:t>Sub-tasks tracked to an implementation report</a:t>
            </a:r>
            <a:endParaRPr lang="en-US" sz="950" dirty="0"/>
          </a:p>
        </p:txBody>
      </p:sp>
      <p:sp>
        <p:nvSpPr>
          <p:cNvPr id="41" name="Text 38"/>
          <p:cNvSpPr/>
          <p:nvPr/>
        </p:nvSpPr>
        <p:spPr>
          <a:xfrm>
            <a:off x="548640" y="4617720"/>
            <a:ext cx="11064240" cy="365760"/>
          </a:xfrm>
          <a:prstGeom prst="rect">
            <a:avLst/>
          </a:prstGeom>
          <a:noFill/>
          <a:ln/>
        </p:spPr>
        <p:txBody>
          <a:bodyPr wrap="square" rtlCol="0" anchor="ctr"/>
          <a:lstStyle/>
          <a:p>
            <a:pPr marL="0" indent="0">
              <a:buNone/>
            </a:pPr>
            <a:r>
              <a:rPr lang="en-US" sz="1100" i="1" dirty="0">
                <a:solidFill>
                  <a:srgbClr val="CBBFE6"/>
                </a:solidFill>
                <a:latin typeface="Calibri" pitchFamily="34" charset="0"/>
                <a:ea typeface="Calibri" pitchFamily="34" charset="-122"/>
                <a:cs typeface="Calibri" pitchFamily="34" charset="-120"/>
              </a:rPr>
              <a:t>Demonstrated on seeded / dummy data in the internal test environment.</a:t>
            </a:r>
            <a:endParaRPr lang="en-US" sz="1100" dirty="0"/>
          </a:p>
        </p:txBody>
      </p:sp>
      <p:sp>
        <p:nvSpPr>
          <p:cNvPr id="42" name="Text 39"/>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43" name="Text 40"/>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Development snapshot</a:t>
            </a:r>
            <a:endParaRPr lang="en-US" sz="2900" dirty="0"/>
          </a:p>
        </p:txBody>
      </p:sp>
      <p:sp>
        <p:nvSpPr>
          <p:cNvPr id="5" name="Shape 2"/>
          <p:cNvSpPr/>
          <p:nvPr/>
        </p:nvSpPr>
        <p:spPr>
          <a:xfrm>
            <a:off x="54864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6" name="Text 3"/>
          <p:cNvSpPr/>
          <p:nvPr/>
        </p:nvSpPr>
        <p:spPr>
          <a:xfrm>
            <a:off x="54864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~2 months</a:t>
            </a:r>
            <a:endParaRPr lang="en-US" sz="2800" dirty="0"/>
          </a:p>
        </p:txBody>
      </p:sp>
      <p:sp>
        <p:nvSpPr>
          <p:cNvPr id="7" name="Text 4"/>
          <p:cNvSpPr/>
          <p:nvPr/>
        </p:nvSpPr>
        <p:spPr>
          <a:xfrm>
            <a:off x="68580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of active build, since May 2026</a:t>
            </a:r>
            <a:endParaRPr lang="en-US" sz="1050" dirty="0"/>
          </a:p>
        </p:txBody>
      </p:sp>
      <p:sp>
        <p:nvSpPr>
          <p:cNvPr id="8" name="Shape 5"/>
          <p:cNvSpPr/>
          <p:nvPr/>
        </p:nvSpPr>
        <p:spPr>
          <a:xfrm>
            <a:off x="333756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9" name="Text 6"/>
          <p:cNvSpPr/>
          <p:nvPr/>
        </p:nvSpPr>
        <p:spPr>
          <a:xfrm>
            <a:off x="333756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210+</a:t>
            </a:r>
            <a:endParaRPr lang="en-US" sz="2800" dirty="0"/>
          </a:p>
        </p:txBody>
      </p:sp>
      <p:sp>
        <p:nvSpPr>
          <p:cNvPr id="10" name="Text 7"/>
          <p:cNvSpPr/>
          <p:nvPr/>
        </p:nvSpPr>
        <p:spPr>
          <a:xfrm>
            <a:off x="347472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commits shipped</a:t>
            </a:r>
            <a:endParaRPr lang="en-US" sz="1050" dirty="0"/>
          </a:p>
        </p:txBody>
      </p:sp>
      <p:sp>
        <p:nvSpPr>
          <p:cNvPr id="11" name="Shape 8"/>
          <p:cNvSpPr/>
          <p:nvPr/>
        </p:nvSpPr>
        <p:spPr>
          <a:xfrm>
            <a:off x="612648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12648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190+</a:t>
            </a:r>
            <a:endParaRPr lang="en-US" sz="2800" dirty="0"/>
          </a:p>
        </p:txBody>
      </p:sp>
      <p:sp>
        <p:nvSpPr>
          <p:cNvPr id="13" name="Text 10"/>
          <p:cNvSpPr/>
          <p:nvPr/>
        </p:nvSpPr>
        <p:spPr>
          <a:xfrm>
            <a:off x="626364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database migrations</a:t>
            </a:r>
            <a:endParaRPr lang="en-US" sz="1050" dirty="0"/>
          </a:p>
        </p:txBody>
      </p:sp>
      <p:sp>
        <p:nvSpPr>
          <p:cNvPr id="14" name="Shape 11"/>
          <p:cNvSpPr/>
          <p:nvPr/>
        </p:nvSpPr>
        <p:spPr>
          <a:xfrm>
            <a:off x="891540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15" name="Text 12"/>
          <p:cNvSpPr/>
          <p:nvPr/>
        </p:nvSpPr>
        <p:spPr>
          <a:xfrm>
            <a:off x="891540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40+</a:t>
            </a:r>
            <a:endParaRPr lang="en-US" sz="2800" dirty="0"/>
          </a:p>
        </p:txBody>
      </p:sp>
      <p:sp>
        <p:nvSpPr>
          <p:cNvPr id="16" name="Text 13"/>
          <p:cNvSpPr/>
          <p:nvPr/>
        </p:nvSpPr>
        <p:spPr>
          <a:xfrm>
            <a:off x="905256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data models across the workflow</a:t>
            </a:r>
            <a:endParaRPr lang="en-US" sz="1050" dirty="0"/>
          </a:p>
        </p:txBody>
      </p:sp>
      <p:sp>
        <p:nvSpPr>
          <p:cNvPr id="17" name="Shape 14"/>
          <p:cNvSpPr/>
          <p:nvPr/>
        </p:nvSpPr>
        <p:spPr>
          <a:xfrm>
            <a:off x="548640" y="3977640"/>
            <a:ext cx="11064240" cy="2103120"/>
          </a:xfrm>
          <a:prstGeom prst="roundRect">
            <a:avLst>
              <a:gd name="adj" fmla="val 3913"/>
            </a:avLst>
          </a:prstGeom>
          <a:solidFill>
            <a:srgbClr val="F5F3FB"/>
          </a:solidFill>
          <a:ln/>
          <a:effectLst>
            <a:outerShdw blurRad="127000" dist="38100" dir="5400000" algn="bl" rotWithShape="0">
              <a:srgbClr val="1B0B3E">
                <a:alpha val="35000"/>
              </a:srgbClr>
            </a:outerShdw>
          </a:effectLst>
        </p:spPr>
      </p:sp>
      <p:sp>
        <p:nvSpPr>
          <p:cNvPr id="18" name="Text 15"/>
          <p:cNvSpPr/>
          <p:nvPr/>
        </p:nvSpPr>
        <p:spPr>
          <a:xfrm>
            <a:off x="868680" y="4160520"/>
            <a:ext cx="7315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Full-stack build, end to end</a:t>
            </a:r>
            <a:endParaRPr lang="en-US" sz="1400" dirty="0"/>
          </a:p>
        </p:txBody>
      </p:sp>
      <p:sp>
        <p:nvSpPr>
          <p:cNvPr id="19" name="Text 16"/>
          <p:cNvSpPr/>
          <p:nvPr/>
        </p:nvSpPr>
        <p:spPr>
          <a:xfrm>
            <a:off x="868680" y="4572000"/>
            <a:ext cx="10424160" cy="411480"/>
          </a:xfrm>
          <a:prstGeom prst="rect">
            <a:avLst/>
          </a:prstGeom>
          <a:noFill/>
          <a:ln/>
        </p:spPr>
        <p:txBody>
          <a:bodyPr wrap="square" rtlCol="0" anchor="ctr"/>
          <a:lstStyle/>
          <a:p>
            <a:pPr marL="0" indent="0">
              <a:buNone/>
            </a:pPr>
            <a:r>
              <a:rPr lang="en-US" sz="1200" b="1" dirty="0">
                <a:solidFill>
                  <a:srgbClr val="1E7A4C"/>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Complete workflow engine covering all statutory stages - lodgement through implementation</a:t>
            </a:r>
            <a:endParaRPr lang="en-US" sz="1200" dirty="0"/>
          </a:p>
        </p:txBody>
      </p:sp>
      <p:sp>
        <p:nvSpPr>
          <p:cNvPr id="20" name="Text 17"/>
          <p:cNvSpPr/>
          <p:nvPr/>
        </p:nvSpPr>
        <p:spPr>
          <a:xfrm>
            <a:off x="868680" y="5029200"/>
            <a:ext cx="10424160" cy="411480"/>
          </a:xfrm>
          <a:prstGeom prst="rect">
            <a:avLst/>
          </a:prstGeom>
          <a:noFill/>
          <a:ln/>
        </p:spPr>
        <p:txBody>
          <a:bodyPr wrap="square" rtlCol="0" anchor="ctr"/>
          <a:lstStyle/>
          <a:p>
            <a:pPr marL="0" indent="0">
              <a:buNone/>
            </a:pPr>
            <a:r>
              <a:rPr lang="en-US" sz="1200" b="1" dirty="0">
                <a:solidFill>
                  <a:srgbClr val="1E7A4C"/>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All six role groups implemented with enforced, role-scoped permissions</a:t>
            </a:r>
            <a:endParaRPr lang="en-US" sz="1200" dirty="0"/>
          </a:p>
        </p:txBody>
      </p:sp>
      <p:sp>
        <p:nvSpPr>
          <p:cNvPr id="21" name="Text 18"/>
          <p:cNvSpPr/>
          <p:nvPr/>
        </p:nvSpPr>
        <p:spPr>
          <a:xfrm>
            <a:off x="868680" y="5486400"/>
            <a:ext cx="10424160" cy="411480"/>
          </a:xfrm>
          <a:prstGeom prst="rect">
            <a:avLst/>
          </a:prstGeom>
          <a:noFill/>
          <a:ln/>
        </p:spPr>
        <p:txBody>
          <a:bodyPr wrap="square" rtlCol="0" anchor="ctr"/>
          <a:lstStyle/>
          <a:p>
            <a:pPr marL="0" indent="0">
              <a:buNone/>
            </a:pPr>
            <a:r>
              <a:rPr lang="en-US" sz="1200" b="1" dirty="0">
                <a:solidFill>
                  <a:srgbClr val="1E7A4C"/>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Commission secretariat, security, AI, and reporting modules all functioning end-to-end</a:t>
            </a:r>
            <a:endParaRPr lang="en-US" sz="1200" dirty="0"/>
          </a:p>
        </p:txBody>
      </p:sp>
      <p:sp>
        <p:nvSpPr>
          <p:cNvPr id="22" name="Text 19"/>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3" name="Text 20"/>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  ·  INFRASTRUCTURE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Hosting &amp; failover: provisioning with DCDT</a:t>
            </a:r>
            <a:endParaRPr lang="en-US" sz="2700" dirty="0"/>
          </a:p>
        </p:txBody>
      </p:sp>
      <p:sp>
        <p:nvSpPr>
          <p:cNvPr id="5" name="Text 2"/>
          <p:cNvSpPr/>
          <p:nvPr/>
        </p:nvSpPr>
        <p:spPr>
          <a:xfrm>
            <a:off x="1691640" y="1325880"/>
            <a:ext cx="10058400" cy="548640"/>
          </a:xfrm>
          <a:prstGeom prst="rect">
            <a:avLst/>
          </a:prstGeom>
          <a:noFill/>
          <a:ln/>
        </p:spPr>
        <p:txBody>
          <a:bodyPr wrap="square" rtlCol="0" anchor="ctr"/>
          <a:lstStyle/>
          <a:p>
            <a:pPr marL="0" indent="0">
              <a:lnSpc>
                <a:spcPct val="125000"/>
              </a:lnSpc>
              <a:buNone/>
            </a:pPr>
            <a:r>
              <a:rPr lang="en-US" sz="1250" dirty="0">
                <a:solidFill>
                  <a:srgbClr val="CBBFE6"/>
                </a:solidFill>
                <a:latin typeface="Calibri" pitchFamily="34" charset="0"/>
                <a:ea typeface="Calibri" pitchFamily="34" charset="-122"/>
                <a:cs typeface="Calibri" pitchFamily="34" charset="-120"/>
              </a:rPr>
              <a:t>SCDMS runs on government-owned infrastructure under the Digital Transformation Act - production deployment is on hold until hosting is provisioned and a Certificate of Compliance is issued.</a:t>
            </a:r>
            <a:endParaRPr lang="en-US" sz="1250" dirty="0"/>
          </a:p>
        </p:txBody>
      </p:sp>
      <p:sp>
        <p:nvSpPr>
          <p:cNvPr id="6" name="Shape 3"/>
          <p:cNvSpPr/>
          <p:nvPr/>
        </p:nvSpPr>
        <p:spPr>
          <a:xfrm>
            <a:off x="548640" y="2057400"/>
            <a:ext cx="5349240" cy="3657600"/>
          </a:xfrm>
          <a:prstGeom prst="roundRect">
            <a:avLst>
              <a:gd name="adj" fmla="val 2250"/>
            </a:avLst>
          </a:prstGeom>
          <a:solidFill>
            <a:srgbClr val="F5F3FB"/>
          </a:solidFill>
          <a:ln/>
          <a:effectLst>
            <a:outerShdw blurRad="127000" dist="38100" dir="5400000" algn="bl" rotWithShape="0">
              <a:srgbClr val="1B0B3E">
                <a:alpha val="35000"/>
              </a:srgbClr>
            </a:outerShdw>
          </a:effectLst>
        </p:spPr>
      </p:sp>
      <p:sp>
        <p:nvSpPr>
          <p:cNvPr id="7" name="Text 4"/>
          <p:cNvSpPr/>
          <p:nvPr/>
        </p:nvSpPr>
        <p:spPr>
          <a:xfrm>
            <a:off x="868680" y="228600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Primary application server</a:t>
            </a:r>
            <a:endParaRPr lang="en-US" sz="1450" dirty="0"/>
          </a:p>
        </p:txBody>
      </p:sp>
      <p:sp>
        <p:nvSpPr>
          <p:cNvPr id="8" name="Shape 5"/>
          <p:cNvSpPr/>
          <p:nvPr/>
        </p:nvSpPr>
        <p:spPr>
          <a:xfrm>
            <a:off x="4480560" y="2286000"/>
            <a:ext cx="1280160" cy="329184"/>
          </a:xfrm>
          <a:prstGeom prst="roundRect">
            <a:avLst>
              <a:gd name="adj" fmla="val 50000"/>
            </a:avLst>
          </a:prstGeom>
          <a:solidFill>
            <a:srgbClr val="FBF0DC"/>
          </a:solidFill>
          <a:ln/>
        </p:spPr>
      </p:sp>
      <p:sp>
        <p:nvSpPr>
          <p:cNvPr id="9" name="Text 6"/>
          <p:cNvSpPr/>
          <p:nvPr/>
        </p:nvSpPr>
        <p:spPr>
          <a:xfrm>
            <a:off x="4480560" y="2286000"/>
            <a:ext cx="128016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Requested</a:t>
            </a:r>
            <a:endParaRPr lang="en-US" sz="1000" dirty="0"/>
          </a:p>
        </p:txBody>
      </p:sp>
      <p:sp>
        <p:nvSpPr>
          <p:cNvPr id="10" name="Text 7"/>
          <p:cNvSpPr/>
          <p:nvPr/>
        </p:nvSpPr>
        <p:spPr>
          <a:xfrm>
            <a:off x="868680" y="2743200"/>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8 vCPU · 32 GB RAM · 500 GB storage · Ubuntu 24.04 LTS</a:t>
            </a:r>
            <a:endParaRPr lang="en-US" sz="1100" dirty="0"/>
          </a:p>
        </p:txBody>
      </p:sp>
      <p:sp>
        <p:nvSpPr>
          <p:cNvPr id="11" name="Text 8"/>
          <p:cNvSpPr/>
          <p:nvPr/>
        </p:nvSpPr>
        <p:spPr>
          <a:xfrm>
            <a:off x="868680" y="3310128"/>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Hosted at the DCDT data centre, Port Vila</a:t>
            </a:r>
            <a:endParaRPr lang="en-US" sz="1100" dirty="0"/>
          </a:p>
        </p:txBody>
      </p:sp>
      <p:sp>
        <p:nvSpPr>
          <p:cNvPr id="12" name="Text 9"/>
          <p:cNvSpPr/>
          <p:nvPr/>
        </p:nvSpPr>
        <p:spPr>
          <a:xfrm>
            <a:off x="868680" y="3877056"/>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Includes TLS certificate, government SMTP relay, and outbound access for vulnerability scanning</a:t>
            </a:r>
            <a:endParaRPr lang="en-US" sz="1100" dirty="0"/>
          </a:p>
        </p:txBody>
      </p:sp>
      <p:sp>
        <p:nvSpPr>
          <p:cNvPr id="13" name="Text 10"/>
          <p:cNvSpPr/>
          <p:nvPr/>
        </p:nvSpPr>
        <p:spPr>
          <a:xfrm>
            <a:off x="868680" y="4443984"/>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Procurement: OPSC submits the spec → Computer World (official Dell reseller) → Dell builds the server to order</a:t>
            </a:r>
            <a:endParaRPr lang="en-US" sz="1100" dirty="0"/>
          </a:p>
        </p:txBody>
      </p:sp>
      <p:sp>
        <p:nvSpPr>
          <p:cNvPr id="14" name="Text 11"/>
          <p:cNvSpPr/>
          <p:nvPr/>
        </p:nvSpPr>
        <p:spPr>
          <a:xfrm>
            <a:off x="868680" y="5010912"/>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Status: request submitted - awaiting DCDT allocation and Certificate of Compliance</a:t>
            </a:r>
            <a:endParaRPr lang="en-US" sz="1100" dirty="0"/>
          </a:p>
        </p:txBody>
      </p:sp>
      <p:sp>
        <p:nvSpPr>
          <p:cNvPr id="15" name="Shape 12"/>
          <p:cNvSpPr/>
          <p:nvPr/>
        </p:nvSpPr>
        <p:spPr>
          <a:xfrm>
            <a:off x="6263640" y="2057400"/>
            <a:ext cx="5349240" cy="3657600"/>
          </a:xfrm>
          <a:prstGeom prst="roundRect">
            <a:avLst>
              <a:gd name="adj" fmla="val 2250"/>
            </a:avLst>
          </a:prstGeom>
          <a:solidFill>
            <a:srgbClr val="1E0E42"/>
          </a:solidFill>
          <a:ln/>
          <a:effectLst>
            <a:outerShdw blurRad="127000" dist="38100" dir="5400000" algn="bl" rotWithShape="0">
              <a:srgbClr val="1B0B3E">
                <a:alpha val="35000"/>
              </a:srgbClr>
            </a:outerShdw>
          </a:effectLst>
        </p:spPr>
      </p:sp>
      <p:sp>
        <p:nvSpPr>
          <p:cNvPr id="16" name="Text 13"/>
          <p:cNvSpPr/>
          <p:nvPr/>
        </p:nvSpPr>
        <p:spPr>
          <a:xfrm>
            <a:off x="6583680" y="2286000"/>
            <a:ext cx="365760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Backup / failover server</a:t>
            </a:r>
            <a:endParaRPr lang="en-US" sz="1450" dirty="0"/>
          </a:p>
        </p:txBody>
      </p:sp>
      <p:sp>
        <p:nvSpPr>
          <p:cNvPr id="17" name="Shape 14"/>
          <p:cNvSpPr/>
          <p:nvPr/>
        </p:nvSpPr>
        <p:spPr>
          <a:xfrm>
            <a:off x="10058400" y="2286000"/>
            <a:ext cx="1371600" cy="329184"/>
          </a:xfrm>
          <a:prstGeom prst="roundRect">
            <a:avLst>
              <a:gd name="adj" fmla="val 50000"/>
            </a:avLst>
          </a:prstGeom>
          <a:solidFill>
            <a:srgbClr val="FBF0DC"/>
          </a:solidFill>
          <a:ln/>
        </p:spPr>
      </p:sp>
      <p:sp>
        <p:nvSpPr>
          <p:cNvPr id="18" name="Text 15"/>
          <p:cNvSpPr/>
          <p:nvPr/>
        </p:nvSpPr>
        <p:spPr>
          <a:xfrm>
            <a:off x="10058400" y="2286000"/>
            <a:ext cx="137160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In progress</a:t>
            </a:r>
            <a:endParaRPr lang="en-US" sz="1000" dirty="0"/>
          </a:p>
        </p:txBody>
      </p:sp>
      <p:sp>
        <p:nvSpPr>
          <p:cNvPr id="19" name="Text 16"/>
          <p:cNvSpPr/>
          <p:nvPr/>
        </p:nvSpPr>
        <p:spPr>
          <a:xfrm>
            <a:off x="6583680" y="2743200"/>
            <a:ext cx="4754880" cy="512064"/>
          </a:xfrm>
          <a:prstGeom prst="rect">
            <a:avLst/>
          </a:prstGeom>
          <a:noFill/>
          <a:ln/>
        </p:spPr>
        <p:txBody>
          <a:bodyPr wrap="square" rtlCol="0" anchor="ctr"/>
          <a:lstStyle/>
          <a:p>
            <a:pPr marL="0" indent="0">
              <a:lnSpc>
                <a:spcPct val="115000"/>
              </a:lnSpc>
              <a:buNone/>
            </a:pPr>
            <a:r>
              <a:rPr lang="en-US" sz="1100" b="1" dirty="0">
                <a:solidFill>
                  <a:srgbClr val="D9A441"/>
                </a:solidFill>
                <a:latin typeface="Calibri" pitchFamily="34" charset="0"/>
                <a:ea typeface="Calibri" pitchFamily="34" charset="-122"/>
                <a:cs typeface="Calibri" pitchFamily="34" charset="-120"/>
              </a:rPr>
              <a:t>→  </a:t>
            </a:r>
            <a:r>
              <a:rPr lang="en-US" sz="1100" dirty="0">
                <a:solidFill>
                  <a:srgbClr val="FFFFFF"/>
                </a:solidFill>
                <a:latin typeface="Calibri" pitchFamily="34" charset="0"/>
                <a:ea typeface="Calibri" pitchFamily="34" charset="-122"/>
                <a:cs typeface="Calibri" pitchFamily="34" charset="-120"/>
              </a:rPr>
              <a:t>A standby server so SCDMS stays available if the primary server goes down</a:t>
            </a:r>
            <a:endParaRPr lang="en-US" sz="1100" dirty="0"/>
          </a:p>
        </p:txBody>
      </p:sp>
      <p:sp>
        <p:nvSpPr>
          <p:cNvPr id="20" name="Text 17"/>
          <p:cNvSpPr/>
          <p:nvPr/>
        </p:nvSpPr>
        <p:spPr>
          <a:xfrm>
            <a:off x="6583680" y="3310128"/>
            <a:ext cx="4754880" cy="512064"/>
          </a:xfrm>
          <a:prstGeom prst="rect">
            <a:avLst/>
          </a:prstGeom>
          <a:noFill/>
          <a:ln/>
        </p:spPr>
        <p:txBody>
          <a:bodyPr wrap="square" rtlCol="0" anchor="ctr"/>
          <a:lstStyle/>
          <a:p>
            <a:pPr marL="0" indent="0">
              <a:lnSpc>
                <a:spcPct val="115000"/>
              </a:lnSpc>
              <a:buNone/>
            </a:pPr>
            <a:r>
              <a:rPr lang="en-US" sz="1100" b="1" dirty="0">
                <a:solidFill>
                  <a:srgbClr val="D9A441"/>
                </a:solidFill>
                <a:latin typeface="Calibri" pitchFamily="34" charset="0"/>
                <a:ea typeface="Calibri" pitchFamily="34" charset="-122"/>
                <a:cs typeface="Calibri" pitchFamily="34" charset="-120"/>
              </a:rPr>
              <a:t>→  </a:t>
            </a:r>
            <a:r>
              <a:rPr lang="en-US" sz="1100" dirty="0">
                <a:solidFill>
                  <a:srgbClr val="FFFFFF"/>
                </a:solidFill>
                <a:latin typeface="Calibri" pitchFamily="34" charset="0"/>
                <a:ea typeface="Calibri" pitchFamily="34" charset="-122"/>
                <a:cs typeface="Calibri" pitchFamily="34" charset="-120"/>
              </a:rPr>
              <a:t>Scope and specification currently being worked through with DCDT</a:t>
            </a:r>
            <a:endParaRPr lang="en-US" sz="1100" dirty="0"/>
          </a:p>
        </p:txBody>
      </p:sp>
      <p:sp>
        <p:nvSpPr>
          <p:cNvPr id="21" name="Text 18"/>
          <p:cNvSpPr/>
          <p:nvPr/>
        </p:nvSpPr>
        <p:spPr>
          <a:xfrm>
            <a:off x="6583680" y="3877056"/>
            <a:ext cx="4754880" cy="512064"/>
          </a:xfrm>
          <a:prstGeom prst="rect">
            <a:avLst/>
          </a:prstGeom>
          <a:noFill/>
          <a:ln/>
        </p:spPr>
        <p:txBody>
          <a:bodyPr wrap="square" rtlCol="0" anchor="ctr"/>
          <a:lstStyle/>
          <a:p>
            <a:pPr marL="0" indent="0">
              <a:lnSpc>
                <a:spcPct val="115000"/>
              </a:lnSpc>
              <a:buNone/>
            </a:pPr>
            <a:r>
              <a:rPr lang="en-US" sz="1100" b="1" dirty="0">
                <a:solidFill>
                  <a:srgbClr val="D9A441"/>
                </a:solidFill>
                <a:latin typeface="Calibri" pitchFamily="34" charset="0"/>
                <a:ea typeface="Calibri" pitchFamily="34" charset="-122"/>
                <a:cs typeface="Calibri" pitchFamily="34" charset="-120"/>
              </a:rPr>
              <a:t>→  </a:t>
            </a:r>
            <a:r>
              <a:rPr lang="en-US" sz="1100" dirty="0">
                <a:solidFill>
                  <a:srgbClr val="FFFFFF"/>
                </a:solidFill>
                <a:latin typeface="Calibri" pitchFamily="34" charset="0"/>
                <a:ea typeface="Calibri" pitchFamily="34" charset="-122"/>
                <a:cs typeface="Calibri" pitchFamily="34" charset="-120"/>
              </a:rPr>
              <a:t>Same Computer World → Dell build-to-order route applies once the spec is finalised</a:t>
            </a:r>
            <a:endParaRPr lang="en-US" sz="1100" dirty="0"/>
          </a:p>
        </p:txBody>
      </p:sp>
      <p:sp>
        <p:nvSpPr>
          <p:cNvPr id="22" name="Text 19"/>
          <p:cNvSpPr/>
          <p:nvPr/>
        </p:nvSpPr>
        <p:spPr>
          <a:xfrm>
            <a:off x="6583680" y="4443984"/>
            <a:ext cx="4754880" cy="512064"/>
          </a:xfrm>
          <a:prstGeom prst="rect">
            <a:avLst/>
          </a:prstGeom>
          <a:noFill/>
          <a:ln/>
        </p:spPr>
        <p:txBody>
          <a:bodyPr wrap="square" rtlCol="0" anchor="ctr"/>
          <a:lstStyle/>
          <a:p>
            <a:pPr marL="0" indent="0">
              <a:lnSpc>
                <a:spcPct val="115000"/>
              </a:lnSpc>
              <a:buNone/>
            </a:pPr>
            <a:r>
              <a:rPr lang="en-US" sz="1100" b="1" dirty="0">
                <a:solidFill>
                  <a:srgbClr val="D9A441"/>
                </a:solidFill>
                <a:latin typeface="Calibri" pitchFamily="34" charset="0"/>
                <a:ea typeface="Calibri" pitchFamily="34" charset="-122"/>
                <a:cs typeface="Calibri" pitchFamily="34" charset="-120"/>
              </a:rPr>
              <a:t>→  </a:t>
            </a:r>
            <a:r>
              <a:rPr lang="en-US" sz="1100" dirty="0">
                <a:solidFill>
                  <a:srgbClr val="FFFFFF"/>
                </a:solidFill>
                <a:latin typeface="Calibri" pitchFamily="34" charset="0"/>
                <a:ea typeface="Calibri" pitchFamily="34" charset="-122"/>
                <a:cs typeface="Calibri" pitchFamily="34" charset="-120"/>
              </a:rPr>
              <a:t>Not yet provisioned - timeline depends on DCDT infrastructure planning</a:t>
            </a:r>
            <a:endParaRPr lang="en-US" sz="1100" dirty="0"/>
          </a:p>
        </p:txBody>
      </p:sp>
      <p:sp>
        <p:nvSpPr>
          <p:cNvPr id="23" name="Shape 20"/>
          <p:cNvSpPr/>
          <p:nvPr/>
        </p:nvSpPr>
        <p:spPr>
          <a:xfrm>
            <a:off x="548640" y="5852160"/>
            <a:ext cx="11064240" cy="685800"/>
          </a:xfrm>
          <a:prstGeom prst="roundRect">
            <a:avLst>
              <a:gd name="adj" fmla="val 12000"/>
            </a:avLst>
          </a:prstGeom>
          <a:solidFill>
            <a:srgbClr val="FBF3E4"/>
          </a:solidFill>
          <a:ln/>
          <a:effectLst>
            <a:outerShdw blurRad="127000" dist="38100" dir="5400000" algn="bl" rotWithShape="0">
              <a:srgbClr val="1B0B3E">
                <a:alpha val="35000"/>
              </a:srgbClr>
            </a:outerShdw>
          </a:effectLst>
        </p:spPr>
      </p:sp>
      <p:sp>
        <p:nvSpPr>
          <p:cNvPr id="24" name="Text 21"/>
          <p:cNvSpPr/>
          <p:nvPr/>
        </p:nvSpPr>
        <p:spPr>
          <a:xfrm>
            <a:off x="868680" y="5852160"/>
            <a:ext cx="10424160" cy="685800"/>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Already in place, independent of DCDT hosting:  </a:t>
            </a:r>
            <a:r>
              <a:rPr lang="en-US" sz="1150" dirty="0">
                <a:solidFill>
                  <a:srgbClr val="5C5470"/>
                </a:solidFill>
                <a:latin typeface="Calibri" pitchFamily="34" charset="0"/>
                <a:ea typeface="Calibri" pitchFamily="34" charset="-122"/>
                <a:cs typeface="Calibri" pitchFamily="34" charset="-120"/>
              </a:rPr>
              <a:t>automated database backups are scheduled inside the application itself (Celery + Celery Beat) - this covers data, not server uptime.</a:t>
            </a:r>
            <a:endParaRPr lang="en-US" sz="115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  ·  INFRASTRUCTURE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Why invest in a proper backup/failover server</a:t>
            </a:r>
            <a:endParaRPr lang="en-US" sz="2700" dirty="0"/>
          </a:p>
        </p:txBody>
      </p:sp>
      <p:sp>
        <p:nvSpPr>
          <p:cNvPr id="5" name="Shape 2"/>
          <p:cNvSpPr/>
          <p:nvPr/>
        </p:nvSpPr>
        <p:spPr>
          <a:xfrm>
            <a:off x="548640" y="1600200"/>
            <a:ext cx="5349240" cy="4160520"/>
          </a:xfrm>
          <a:prstGeom prst="roundRect">
            <a:avLst>
              <a:gd name="adj" fmla="val 1978"/>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68680" y="182880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The risk without one</a:t>
            </a:r>
            <a:endParaRPr lang="en-US" sz="1450" dirty="0"/>
          </a:p>
        </p:txBody>
      </p:sp>
      <p:sp>
        <p:nvSpPr>
          <p:cNvPr id="7" name="Text 4"/>
          <p:cNvSpPr/>
          <p:nvPr/>
        </p:nvSpPr>
        <p:spPr>
          <a:xfrm>
            <a:off x="868680" y="2331720"/>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One server is a single point of failure - for SCDMS, and for anything else placed on it</a:t>
            </a:r>
            <a:endParaRPr lang="en-US" sz="1150" dirty="0"/>
          </a:p>
        </p:txBody>
      </p:sp>
      <p:sp>
        <p:nvSpPr>
          <p:cNvPr id="8" name="Text 5"/>
          <p:cNvSpPr/>
          <p:nvPr/>
        </p:nvSpPr>
        <p:spPr>
          <a:xfrm>
            <a:off x="868680" y="2990088"/>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Hardware fault, maintenance, or an outage takes the system offline with no fallback</a:t>
            </a:r>
            <a:endParaRPr lang="en-US" sz="1150" dirty="0"/>
          </a:p>
        </p:txBody>
      </p:sp>
      <p:sp>
        <p:nvSpPr>
          <p:cNvPr id="9" name="Text 6"/>
          <p:cNvSpPr/>
          <p:nvPr/>
        </p:nvSpPr>
        <p:spPr>
          <a:xfrm>
            <a:off x="868680" y="3648456"/>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Statutory deadlines, sittings, and submissions in progress stall until it's restored</a:t>
            </a:r>
            <a:endParaRPr lang="en-US" sz="1150" dirty="0"/>
          </a:p>
        </p:txBody>
      </p:sp>
      <p:sp>
        <p:nvSpPr>
          <p:cNvPr id="10" name="Text 7"/>
          <p:cNvSpPr/>
          <p:nvPr/>
        </p:nvSpPr>
        <p:spPr>
          <a:xfrm>
            <a:off x="868680" y="4306824"/>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Recovery time then depends entirely on DCDT's turnaround, not on OPSC's plans</a:t>
            </a:r>
            <a:endParaRPr lang="en-US" sz="1150" dirty="0"/>
          </a:p>
        </p:txBody>
      </p:sp>
      <p:sp>
        <p:nvSpPr>
          <p:cNvPr id="11" name="Shape 8"/>
          <p:cNvSpPr/>
          <p:nvPr/>
        </p:nvSpPr>
        <p:spPr>
          <a:xfrm>
            <a:off x="6263640" y="1600200"/>
            <a:ext cx="5349240" cy="4160520"/>
          </a:xfrm>
          <a:prstGeom prst="roundRect">
            <a:avLst>
              <a:gd name="adj" fmla="val 1978"/>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583680" y="1828800"/>
            <a:ext cx="4754880" cy="548640"/>
          </a:xfrm>
          <a:prstGeom prst="rect">
            <a:avLst/>
          </a:prstGeom>
          <a:noFill/>
          <a:ln/>
        </p:spPr>
        <p:txBody>
          <a:bodyPr wrap="square" rtlCol="0" anchor="ctr"/>
          <a:lstStyle/>
          <a:p>
            <a:pPr marL="0" indent="0">
              <a:lnSpc>
                <a:spcPct val="105000"/>
              </a:lnSpc>
              <a:buNone/>
            </a:pPr>
            <a:r>
              <a:rPr lang="en-US" sz="1450" b="1" dirty="0">
                <a:solidFill>
                  <a:srgbClr val="D9A441"/>
                </a:solidFill>
                <a:latin typeface="Calibri" pitchFamily="34" charset="0"/>
                <a:ea typeface="Calibri" pitchFamily="34" charset="-122"/>
                <a:cs typeface="Calibri" pitchFamily="34" charset="-120"/>
              </a:rPr>
              <a:t>More than insurance for SCDMS alone</a:t>
            </a:r>
            <a:endParaRPr lang="en-US" sz="1450" dirty="0"/>
          </a:p>
        </p:txBody>
      </p:sp>
      <p:sp>
        <p:nvSpPr>
          <p:cNvPr id="13" name="Text 10"/>
          <p:cNvSpPr/>
          <p:nvPr/>
        </p:nvSpPr>
        <p:spPr>
          <a:xfrm>
            <a:off x="6583680" y="2377440"/>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Sized and provisioned properly, the same standby server doesn't have to sit idle waiting for a failure</a:t>
            </a:r>
            <a:endParaRPr lang="en-US" sz="1150" dirty="0"/>
          </a:p>
        </p:txBody>
      </p:sp>
      <p:sp>
        <p:nvSpPr>
          <p:cNvPr id="14" name="Text 11"/>
          <p:cNvSpPr/>
          <p:nvPr/>
        </p:nvSpPr>
        <p:spPr>
          <a:xfrm>
            <a:off x="6583680" y="3035808"/>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It can also host other OPSC systems - turning a single-purpose redundancy cost into shared government infrastructure</a:t>
            </a:r>
            <a:endParaRPr lang="en-US" sz="1150" dirty="0"/>
          </a:p>
        </p:txBody>
      </p:sp>
      <p:sp>
        <p:nvSpPr>
          <p:cNvPr id="15" name="Text 12"/>
          <p:cNvSpPr/>
          <p:nvPr/>
        </p:nvSpPr>
        <p:spPr>
          <a:xfrm>
            <a:off x="6583680" y="3694176"/>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One properly-specified request to DCDT, instead of a separate one-off ask per system</a:t>
            </a:r>
            <a:endParaRPr lang="en-US" sz="1150" dirty="0"/>
          </a:p>
        </p:txBody>
      </p:sp>
      <p:sp>
        <p:nvSpPr>
          <p:cNvPr id="16" name="Text 13"/>
          <p:cNvSpPr/>
          <p:nvPr/>
        </p:nvSpPr>
        <p:spPr>
          <a:xfrm>
            <a:off x="6583680" y="4352544"/>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Better return on the investment, and a stronger case to put to DCDT</a:t>
            </a:r>
            <a:endParaRPr lang="en-US" sz="1150" dirty="0"/>
          </a:p>
        </p:txBody>
      </p:sp>
      <p:sp>
        <p:nvSpPr>
          <p:cNvPr id="17" name="Shape 14"/>
          <p:cNvSpPr/>
          <p:nvPr/>
        </p:nvSpPr>
        <p:spPr>
          <a:xfrm>
            <a:off x="548640" y="5943600"/>
            <a:ext cx="11064240" cy="594360"/>
          </a:xfrm>
          <a:prstGeom prst="roundRect">
            <a:avLst>
              <a:gd name="adj" fmla="val 13846"/>
            </a:avLst>
          </a:prstGeom>
          <a:solidFill>
            <a:srgbClr val="FBF3E4"/>
          </a:solidFill>
          <a:ln/>
          <a:effectLst>
            <a:outerShdw blurRad="127000" dist="38100" dir="5400000" algn="bl" rotWithShape="0">
              <a:srgbClr val="1B0B3E">
                <a:alpha val="35000"/>
              </a:srgbClr>
            </a:outerShdw>
          </a:effectLst>
        </p:spPr>
      </p:sp>
      <p:sp>
        <p:nvSpPr>
          <p:cNvPr id="18" name="Text 15"/>
          <p:cNvSpPr/>
          <p:nvPr/>
        </p:nvSpPr>
        <p:spPr>
          <a:xfrm>
            <a:off x="868680" y="5943600"/>
            <a:ext cx="10424160" cy="594360"/>
          </a:xfrm>
          <a:prstGeom prst="rect">
            <a:avLst/>
          </a:prstGeom>
          <a:noFill/>
          <a:ln/>
        </p:spPr>
        <p:txBody>
          <a:bodyPr wrap="square" rtlCol="0" anchor="ctr"/>
          <a:lstStyle/>
          <a:p>
            <a:pPr marL="0" indent="0">
              <a:lnSpc>
                <a:spcPct val="115000"/>
              </a:lnSpc>
              <a:buNone/>
            </a:pPr>
            <a:r>
              <a:rPr lang="en-US" sz="1100" b="1" i="1" dirty="0">
                <a:solidFill>
                  <a:srgbClr val="2C0F5E"/>
                </a:solidFill>
                <a:latin typeface="Calibri" pitchFamily="34" charset="0"/>
                <a:ea typeface="Calibri" pitchFamily="34" charset="-122"/>
                <a:cs typeface="Calibri" pitchFamily="34" charset="-120"/>
              </a:rPr>
              <a:t>The ask:  </a:t>
            </a:r>
            <a:r>
              <a:rPr lang="en-US" sz="1100" i="1" dirty="0">
                <a:solidFill>
                  <a:srgbClr val="5C5470"/>
                </a:solidFill>
                <a:latin typeface="Calibri" pitchFamily="34" charset="0"/>
                <a:ea typeface="Calibri" pitchFamily="34" charset="-122"/>
                <a:cs typeface="Calibri" pitchFamily="34" charset="-120"/>
              </a:rPr>
              <a:t>provision the backup/failover server as shared OPSC infrastructure, not a single-system add-on - sized for SCDMS plus what comes after it.</a:t>
            </a:r>
            <a:endParaRPr lang="en-US" sz="1100" dirty="0"/>
          </a:p>
        </p:txBody>
      </p:sp>
      <p:sp>
        <p:nvSpPr>
          <p:cNvPr id="19" name="Text 16"/>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0" name="Text 17"/>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  ·  INFRASTRUCTURE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Salmon risk, concretely: protecting the minutes</a:t>
            </a:r>
            <a:endParaRPr lang="en-US" sz="2600" dirty="0"/>
          </a:p>
        </p:txBody>
      </p:sp>
      <p:sp>
        <p:nvSpPr>
          <p:cNvPr id="5" name="Text 2"/>
          <p:cNvSpPr/>
          <p:nvPr/>
        </p:nvSpPr>
        <p:spPr>
          <a:xfrm>
            <a:off x="1691640" y="1371600"/>
            <a:ext cx="10058400" cy="365760"/>
          </a:xfrm>
          <a:prstGeom prst="rect">
            <a:avLst/>
          </a:prstGeom>
          <a:noFill/>
          <a:ln/>
        </p:spPr>
        <p:txBody>
          <a:bodyPr wrap="square" rtlCol="0" anchor="ctr"/>
          <a:lstStyle/>
          <a:p>
            <a:pPr marL="0" indent="0">
              <a:buNone/>
            </a:pPr>
            <a:r>
              <a:rPr lang="en-US" sz="1250" dirty="0">
                <a:solidFill>
                  <a:srgbClr val="CBBFE6"/>
                </a:solidFill>
                <a:latin typeface="Calibri" pitchFamily="34" charset="0"/>
                <a:ea typeface="Calibri" pitchFamily="34" charset="-122"/>
                <a:cs typeface="Calibri" pitchFamily="34" charset="-120"/>
              </a:rPr>
              <a:t>Commissioners have raised this directly - here's the actual risk today, and what changes.</a:t>
            </a:r>
            <a:endParaRPr lang="en-US" sz="1250" dirty="0"/>
          </a:p>
        </p:txBody>
      </p:sp>
      <p:sp>
        <p:nvSpPr>
          <p:cNvPr id="6" name="Shape 3"/>
          <p:cNvSpPr/>
          <p:nvPr/>
        </p:nvSpPr>
        <p:spPr>
          <a:xfrm>
            <a:off x="548640" y="1965960"/>
            <a:ext cx="5349240" cy="3749040"/>
          </a:xfrm>
          <a:prstGeom prst="roundRect">
            <a:avLst>
              <a:gd name="adj" fmla="val 2195"/>
            </a:avLst>
          </a:prstGeom>
          <a:solidFill>
            <a:srgbClr val="F5F3FB"/>
          </a:solidFill>
          <a:ln/>
          <a:effectLst>
            <a:outerShdw blurRad="127000" dist="38100" dir="5400000" algn="bl" rotWithShape="0">
              <a:srgbClr val="1B0B3E">
                <a:alpha val="35000"/>
              </a:srgbClr>
            </a:outerShdw>
          </a:effectLst>
        </p:spPr>
      </p:sp>
      <p:sp>
        <p:nvSpPr>
          <p:cNvPr id="7" name="Text 4"/>
          <p:cNvSpPr/>
          <p:nvPr/>
        </p:nvSpPr>
        <p:spPr>
          <a:xfrm>
            <a:off x="868680" y="2194560"/>
            <a:ext cx="4754880" cy="457200"/>
          </a:xfrm>
          <a:prstGeom prst="rect">
            <a:avLst/>
          </a:prstGeom>
          <a:noFill/>
          <a:ln/>
        </p:spPr>
        <p:txBody>
          <a:bodyPr wrap="square" rtlCol="0" anchor="ctr"/>
          <a:lstStyle/>
          <a:p>
            <a:pPr marL="0" indent="0">
              <a:lnSpc>
                <a:spcPct val="105000"/>
              </a:lnSpc>
              <a:buNone/>
            </a:pPr>
            <a:r>
              <a:rPr lang="en-US" sz="1400" b="1" dirty="0">
                <a:solidFill>
                  <a:srgbClr val="2C0F5E"/>
                </a:solidFill>
                <a:latin typeface="Calibri" pitchFamily="34" charset="0"/>
                <a:ea typeface="Calibri" pitchFamily="34" charset="-122"/>
                <a:cs typeface="Calibri" pitchFamily="34" charset="-120"/>
              </a:rPr>
              <a:t>Today: a single point of failure</a:t>
            </a:r>
            <a:endParaRPr lang="en-US" sz="1400" dirty="0"/>
          </a:p>
        </p:txBody>
      </p:sp>
      <p:sp>
        <p:nvSpPr>
          <p:cNvPr id="8" name="Text 5"/>
          <p:cNvSpPr/>
          <p:nvPr/>
        </p:nvSpPr>
        <p:spPr>
          <a:xfrm>
            <a:off x="868680" y="2743200"/>
            <a:ext cx="4754880" cy="731520"/>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All Commission minutes sit on Salmon, one shared VM used by every ministry</a:t>
            </a:r>
            <a:endParaRPr lang="en-US" sz="1150" dirty="0"/>
          </a:p>
        </p:txBody>
      </p:sp>
      <p:sp>
        <p:nvSpPr>
          <p:cNvPr id="9" name="Text 6"/>
          <p:cNvSpPr/>
          <p:nvPr/>
        </p:nvSpPr>
        <p:spPr>
          <a:xfrm>
            <a:off x="868680" y="3520440"/>
            <a:ext cx="4754880" cy="731520"/>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No second copy exists anywhere else</a:t>
            </a:r>
            <a:endParaRPr lang="en-US" sz="1150" dirty="0"/>
          </a:p>
        </p:txBody>
      </p:sp>
      <p:sp>
        <p:nvSpPr>
          <p:cNvPr id="10" name="Text 7"/>
          <p:cNvSpPr/>
          <p:nvPr/>
        </p:nvSpPr>
        <p:spPr>
          <a:xfrm>
            <a:off x="868680" y="4297680"/>
            <a:ext cx="4754880" cy="731520"/>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If Salmon fails, whatever's stored there could be gone for good - exactly the scenario commissioners are worried about</a:t>
            </a:r>
            <a:endParaRPr lang="en-US" sz="1150" dirty="0"/>
          </a:p>
        </p:txBody>
      </p:sp>
      <p:sp>
        <p:nvSpPr>
          <p:cNvPr id="11" name="Shape 8"/>
          <p:cNvSpPr/>
          <p:nvPr/>
        </p:nvSpPr>
        <p:spPr>
          <a:xfrm>
            <a:off x="6263640" y="1965960"/>
            <a:ext cx="5349240" cy="3749040"/>
          </a:xfrm>
          <a:prstGeom prst="roundRect">
            <a:avLst>
              <a:gd name="adj" fmla="val 2195"/>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583680" y="2194560"/>
            <a:ext cx="4754880" cy="365760"/>
          </a:xfrm>
          <a:prstGeom prst="rect">
            <a:avLst/>
          </a:prstGeom>
          <a:noFill/>
          <a:ln/>
        </p:spPr>
        <p:txBody>
          <a:bodyPr wrap="square" rtlCol="0" anchor="ctr"/>
          <a:lstStyle/>
          <a:p>
            <a:pPr marL="0" indent="0">
              <a:buNone/>
            </a:pPr>
            <a:r>
              <a:rPr lang="en-US" sz="1400" b="1" dirty="0">
                <a:solidFill>
                  <a:srgbClr val="D9A441"/>
                </a:solidFill>
                <a:latin typeface="Calibri" pitchFamily="34" charset="0"/>
                <a:ea typeface="Calibri" pitchFamily="34" charset="-122"/>
                <a:cs typeface="Calibri" pitchFamily="34" charset="-120"/>
              </a:rPr>
              <a:t>With SCDMS's failover server</a:t>
            </a:r>
            <a:endParaRPr lang="en-US" sz="1400" dirty="0"/>
          </a:p>
        </p:txBody>
      </p:sp>
      <p:sp>
        <p:nvSpPr>
          <p:cNvPr id="13" name="Text 10"/>
          <p:cNvSpPr/>
          <p:nvPr/>
        </p:nvSpPr>
        <p:spPr>
          <a:xfrm>
            <a:off x="6583680" y="2743200"/>
            <a:ext cx="4754880" cy="731520"/>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Minutes are structured database records, not loose files on a shared drive</a:t>
            </a:r>
            <a:endParaRPr lang="en-US" sz="1150" dirty="0"/>
          </a:p>
        </p:txBody>
      </p:sp>
      <p:sp>
        <p:nvSpPr>
          <p:cNvPr id="14" name="Text 11"/>
          <p:cNvSpPr/>
          <p:nvPr/>
        </p:nvSpPr>
        <p:spPr>
          <a:xfrm>
            <a:off x="6583680" y="3520440"/>
            <a:ext cx="4754880" cy="731520"/>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Backups are already automated inside the app on a recurring schedule</a:t>
            </a:r>
            <a:endParaRPr lang="en-US" sz="1150" dirty="0"/>
          </a:p>
        </p:txBody>
      </p:sp>
      <p:sp>
        <p:nvSpPr>
          <p:cNvPr id="15" name="Text 12"/>
          <p:cNvSpPr/>
          <p:nvPr/>
        </p:nvSpPr>
        <p:spPr>
          <a:xfrm>
            <a:off x="6583680" y="4297680"/>
            <a:ext cx="4754880" cy="731520"/>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The failover server gives those backups - or a live copy - a separate machine to land on, so one server dying can't mean total loss</a:t>
            </a:r>
            <a:endParaRPr lang="en-US" sz="1150" dirty="0"/>
          </a:p>
        </p:txBody>
      </p:sp>
      <p:sp>
        <p:nvSpPr>
          <p:cNvPr id="16" name="Shape 13"/>
          <p:cNvSpPr/>
          <p:nvPr/>
        </p:nvSpPr>
        <p:spPr>
          <a:xfrm>
            <a:off x="548640" y="5852160"/>
            <a:ext cx="11064240" cy="685800"/>
          </a:xfrm>
          <a:prstGeom prst="roundRect">
            <a:avLst>
              <a:gd name="adj" fmla="val 12000"/>
            </a:avLst>
          </a:prstGeom>
          <a:solidFill>
            <a:srgbClr val="FBF3E4"/>
          </a:solidFill>
          <a:ln/>
          <a:effectLst>
            <a:outerShdw blurRad="127000" dist="38100" dir="5400000" algn="bl" rotWithShape="0">
              <a:srgbClr val="1B0B3E">
                <a:alpha val="35000"/>
              </a:srgbClr>
            </a:outerShdw>
          </a:effectLst>
        </p:spPr>
      </p:sp>
      <p:sp>
        <p:nvSpPr>
          <p:cNvPr id="17" name="Text 14"/>
          <p:cNvSpPr/>
          <p:nvPr/>
        </p:nvSpPr>
        <p:spPr>
          <a:xfrm>
            <a:off x="868680" y="5852160"/>
            <a:ext cx="10424160" cy="685800"/>
          </a:xfrm>
          <a:prstGeom prst="rect">
            <a:avLst/>
          </a:prstGeom>
          <a:noFill/>
          <a:ln/>
        </p:spPr>
        <p:txBody>
          <a:bodyPr wrap="square" rtlCol="0" anchor="ctr"/>
          <a:lstStyle/>
          <a:p>
            <a:pPr marL="0" indent="0">
              <a:lnSpc>
                <a:spcPct val="115000"/>
              </a:lnSpc>
              <a:buNone/>
            </a:pPr>
            <a:r>
              <a:rPr lang="en-US" sz="1100" b="1" i="1" dirty="0">
                <a:solidFill>
                  <a:srgbClr val="2C0F5E"/>
                </a:solidFill>
                <a:latin typeface="Calibri" pitchFamily="34" charset="0"/>
                <a:ea typeface="Calibri" pitchFamily="34" charset="-122"/>
                <a:cs typeface="Calibri" pitchFamily="34" charset="-120"/>
              </a:rPr>
              <a:t>Being upfront:  </a:t>
            </a:r>
            <a:r>
              <a:rPr lang="en-US" sz="1100" i="1" dirty="0">
                <a:solidFill>
                  <a:srgbClr val="5C5470"/>
                </a:solidFill>
                <a:latin typeface="Calibri" pitchFamily="34" charset="0"/>
                <a:ea typeface="Calibri" pitchFamily="34" charset="-122"/>
                <a:cs typeface="Calibri" pitchFamily="34" charset="-120"/>
              </a:rPr>
              <a:t>today's scheduled backups default to the same server's local disk. Pointing them at the failover server - not just having one - is what actually closes this gap.</a:t>
            </a:r>
            <a:endParaRPr lang="en-US" sz="1100" dirty="0"/>
          </a:p>
        </p:txBody>
      </p:sp>
      <p:sp>
        <p:nvSpPr>
          <p:cNvPr id="18" name="Text 15"/>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19" name="Text 16"/>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Important: this is a progress update, not a pilot</a:t>
            </a:r>
            <a:endParaRPr lang="en-US" sz="2700" dirty="0"/>
          </a:p>
        </p:txBody>
      </p:sp>
      <p:sp>
        <p:nvSpPr>
          <p:cNvPr id="5" name="Shape 2"/>
          <p:cNvSpPr/>
          <p:nvPr/>
        </p:nvSpPr>
        <p:spPr>
          <a:xfrm>
            <a:off x="548640" y="1737360"/>
            <a:ext cx="5349240" cy="4297680"/>
          </a:xfrm>
          <a:prstGeom prst="roundRect">
            <a:avLst>
              <a:gd name="adj" fmla="val 1915"/>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68680" y="196596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Where we are</a:t>
            </a:r>
            <a:endParaRPr lang="en-US" sz="1450" dirty="0"/>
          </a:p>
        </p:txBody>
      </p:sp>
      <p:sp>
        <p:nvSpPr>
          <p:cNvPr id="7" name="Text 4"/>
          <p:cNvSpPr/>
          <p:nvPr/>
        </p:nvSpPr>
        <p:spPr>
          <a:xfrm>
            <a:off x="868680" y="245059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System built and functioning across all core modules</a:t>
            </a:r>
            <a:endParaRPr lang="en-US" sz="1200" dirty="0"/>
          </a:p>
        </p:txBody>
      </p:sp>
      <p:sp>
        <p:nvSpPr>
          <p:cNvPr id="8" name="Text 5"/>
          <p:cNvSpPr/>
          <p:nvPr/>
        </p:nvSpPr>
        <p:spPr>
          <a:xfrm>
            <a:off x="868680" y="299923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Running in a controlled environment with seeded / dummy data only</a:t>
            </a:r>
            <a:endParaRPr lang="en-US" sz="1200" dirty="0"/>
          </a:p>
        </p:txBody>
      </p:sp>
      <p:sp>
        <p:nvSpPr>
          <p:cNvPr id="9" name="Text 6"/>
          <p:cNvSpPr/>
          <p:nvPr/>
        </p:nvSpPr>
        <p:spPr>
          <a:xfrm>
            <a:off x="868680" y="354787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No real ministry submissions, no real personnel data</a:t>
            </a:r>
            <a:endParaRPr lang="en-US" sz="1200" dirty="0"/>
          </a:p>
        </p:txBody>
      </p:sp>
      <p:sp>
        <p:nvSpPr>
          <p:cNvPr id="10" name="Text 7"/>
          <p:cNvSpPr/>
          <p:nvPr/>
        </p:nvSpPr>
        <p:spPr>
          <a:xfrm>
            <a:off x="868680" y="409651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Internal testing by the build team, not by end users</a:t>
            </a:r>
            <a:endParaRPr lang="en-US" sz="1200" dirty="0"/>
          </a:p>
        </p:txBody>
      </p:sp>
      <p:sp>
        <p:nvSpPr>
          <p:cNvPr id="11" name="Shape 8"/>
          <p:cNvSpPr/>
          <p:nvPr/>
        </p:nvSpPr>
        <p:spPr>
          <a:xfrm>
            <a:off x="6263640" y="1737360"/>
            <a:ext cx="5349240" cy="4297680"/>
          </a:xfrm>
          <a:prstGeom prst="roundRect">
            <a:avLst>
              <a:gd name="adj" fmla="val 1915"/>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583680" y="1965960"/>
            <a:ext cx="475488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What's still ahead before a pilot</a:t>
            </a:r>
            <a:endParaRPr lang="en-US" sz="1450" dirty="0"/>
          </a:p>
        </p:txBody>
      </p:sp>
      <p:sp>
        <p:nvSpPr>
          <p:cNvPr id="13" name="Text 10"/>
          <p:cNvSpPr/>
          <p:nvPr/>
        </p:nvSpPr>
        <p:spPr>
          <a:xfrm>
            <a:off x="6583680" y="245059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Select pilot ministries and a defined pilot scope</a:t>
            </a:r>
            <a:endParaRPr lang="en-US" sz="1200" dirty="0"/>
          </a:p>
        </p:txBody>
      </p:sp>
      <p:sp>
        <p:nvSpPr>
          <p:cNvPr id="14" name="Text 11"/>
          <p:cNvSpPr/>
          <p:nvPr/>
        </p:nvSpPr>
        <p:spPr>
          <a:xfrm>
            <a:off x="6583680" y="299923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Load real (approved) reference data - ministries, departments, users</a:t>
            </a:r>
            <a:endParaRPr lang="en-US" sz="1200" dirty="0"/>
          </a:p>
        </p:txBody>
      </p:sp>
      <p:sp>
        <p:nvSpPr>
          <p:cNvPr id="15" name="Text 12"/>
          <p:cNvSpPr/>
          <p:nvPr/>
        </p:nvSpPr>
        <p:spPr>
          <a:xfrm>
            <a:off x="6583680" y="354787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Formal user acceptance testing with real OPSC and ministry staff</a:t>
            </a:r>
            <a:endParaRPr lang="en-US" sz="1200" dirty="0"/>
          </a:p>
        </p:txBody>
      </p:sp>
      <p:sp>
        <p:nvSpPr>
          <p:cNvPr id="16" name="Text 13"/>
          <p:cNvSpPr/>
          <p:nvPr/>
        </p:nvSpPr>
        <p:spPr>
          <a:xfrm>
            <a:off x="6583680" y="409651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Training and rollout plan for pilot participants</a:t>
            </a:r>
            <a:endParaRPr lang="en-US" sz="1200" dirty="0"/>
          </a:p>
        </p:txBody>
      </p:sp>
      <p:sp>
        <p:nvSpPr>
          <p:cNvPr id="17" name="Text 14"/>
          <p:cNvSpPr/>
          <p:nvPr/>
        </p:nvSpPr>
        <p:spPr>
          <a:xfrm>
            <a:off x="6583680" y="464515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Committee sign-off on go-live readiness criteria</a:t>
            </a:r>
            <a:endParaRPr lang="en-US" sz="1200" dirty="0"/>
          </a:p>
        </p:txBody>
      </p:sp>
      <p:sp>
        <p:nvSpPr>
          <p:cNvPr id="18" name="Text 15"/>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19" name="Text 16"/>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NEXT</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Near-term roadmap</a:t>
            </a:r>
            <a:endParaRPr lang="en-US" sz="2900" dirty="0"/>
          </a:p>
        </p:txBody>
      </p:sp>
      <p:sp>
        <p:nvSpPr>
          <p:cNvPr id="5" name="Shape 2"/>
          <p:cNvSpPr/>
          <p:nvPr/>
        </p:nvSpPr>
        <p:spPr>
          <a:xfrm>
            <a:off x="548640" y="1737360"/>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22960" y="1865376"/>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Workflow Automation</a:t>
            </a:r>
            <a:endParaRPr lang="en-US" sz="1350" dirty="0"/>
          </a:p>
        </p:txBody>
      </p:sp>
      <p:sp>
        <p:nvSpPr>
          <p:cNvPr id="7" name="Text 4"/>
          <p:cNvSpPr/>
          <p:nvPr/>
        </p:nvSpPr>
        <p:spPr>
          <a:xfrm>
            <a:off x="822960" y="2240280"/>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No-code trigger → condition → action builder across submissions, cases, meetings, and tasks. Awaiting build approval.</a:t>
            </a:r>
            <a:endParaRPr lang="en-US" sz="1000" dirty="0"/>
          </a:p>
        </p:txBody>
      </p:sp>
      <p:sp>
        <p:nvSpPr>
          <p:cNvPr id="8" name="Shape 5"/>
          <p:cNvSpPr/>
          <p:nvPr/>
        </p:nvSpPr>
        <p:spPr>
          <a:xfrm>
            <a:off x="8366760" y="2029968"/>
            <a:ext cx="2468880" cy="384048"/>
          </a:xfrm>
          <a:prstGeom prst="roundRect">
            <a:avLst>
              <a:gd name="adj" fmla="val 50000"/>
            </a:avLst>
          </a:prstGeom>
          <a:solidFill>
            <a:srgbClr val="FBF0DC"/>
          </a:solidFill>
          <a:ln/>
        </p:spPr>
      </p:sp>
      <p:sp>
        <p:nvSpPr>
          <p:cNvPr id="9" name="Text 6"/>
          <p:cNvSpPr/>
          <p:nvPr/>
        </p:nvSpPr>
        <p:spPr>
          <a:xfrm>
            <a:off x="8366760" y="2029968"/>
            <a:ext cx="2468880" cy="384048"/>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Proposed</a:t>
            </a:r>
            <a:endParaRPr lang="en-US" sz="1000" dirty="0"/>
          </a:p>
        </p:txBody>
      </p:sp>
      <p:sp>
        <p:nvSpPr>
          <p:cNvPr id="10" name="Shape 7"/>
          <p:cNvSpPr/>
          <p:nvPr/>
        </p:nvSpPr>
        <p:spPr>
          <a:xfrm>
            <a:off x="548640" y="2807208"/>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11" name="Text 8"/>
          <p:cNvSpPr/>
          <p:nvPr/>
        </p:nvSpPr>
        <p:spPr>
          <a:xfrm>
            <a:off x="822960" y="2935224"/>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Enterprise Reporting Engine</a:t>
            </a:r>
            <a:endParaRPr lang="en-US" sz="1350" dirty="0"/>
          </a:p>
        </p:txBody>
      </p:sp>
      <p:sp>
        <p:nvSpPr>
          <p:cNvPr id="12" name="Text 9"/>
          <p:cNvSpPr/>
          <p:nvPr/>
        </p:nvSpPr>
        <p:spPr>
          <a:xfrm>
            <a:off x="822960" y="3310128"/>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Parameterised report catalog plus ad-hoc natural-language reports, ready for migration and rollout.</a:t>
            </a:r>
            <a:endParaRPr lang="en-US" sz="1000" dirty="0"/>
          </a:p>
        </p:txBody>
      </p:sp>
      <p:sp>
        <p:nvSpPr>
          <p:cNvPr id="13" name="Shape 10"/>
          <p:cNvSpPr/>
          <p:nvPr/>
        </p:nvSpPr>
        <p:spPr>
          <a:xfrm>
            <a:off x="8366760" y="3099816"/>
            <a:ext cx="2468880" cy="384048"/>
          </a:xfrm>
          <a:prstGeom prst="roundRect">
            <a:avLst>
              <a:gd name="adj" fmla="val 50000"/>
            </a:avLst>
          </a:prstGeom>
          <a:solidFill>
            <a:srgbClr val="E4F4EC"/>
          </a:solidFill>
          <a:ln/>
        </p:spPr>
      </p:sp>
      <p:sp>
        <p:nvSpPr>
          <p:cNvPr id="14" name="Text 11"/>
          <p:cNvSpPr/>
          <p:nvPr/>
        </p:nvSpPr>
        <p:spPr>
          <a:xfrm>
            <a:off x="8366760" y="3099816"/>
            <a:ext cx="2468880" cy="384048"/>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Built, pending deploy</a:t>
            </a:r>
            <a:endParaRPr lang="en-US" sz="1000" dirty="0"/>
          </a:p>
        </p:txBody>
      </p:sp>
      <p:sp>
        <p:nvSpPr>
          <p:cNvPr id="15" name="Shape 12"/>
          <p:cNvSpPr/>
          <p:nvPr/>
        </p:nvSpPr>
        <p:spPr>
          <a:xfrm>
            <a:off x="548640" y="3877056"/>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16" name="Text 13"/>
          <p:cNvSpPr/>
          <p:nvPr/>
        </p:nvSpPr>
        <p:spPr>
          <a:xfrm>
            <a:off x="822960" y="4005072"/>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Intelligence Explorer</a:t>
            </a:r>
            <a:endParaRPr lang="en-US" sz="1350" dirty="0"/>
          </a:p>
        </p:txBody>
      </p:sp>
      <p:sp>
        <p:nvSpPr>
          <p:cNvPr id="17" name="Text 14"/>
          <p:cNvSpPr/>
          <p:nvPr/>
        </p:nvSpPr>
        <p:spPr>
          <a:xfrm>
            <a:off x="822960" y="4379976"/>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Interactive data-exploration UI now live for the Submissions dataset.</a:t>
            </a:r>
            <a:endParaRPr lang="en-US" sz="1000" dirty="0"/>
          </a:p>
        </p:txBody>
      </p:sp>
      <p:sp>
        <p:nvSpPr>
          <p:cNvPr id="18" name="Shape 15"/>
          <p:cNvSpPr/>
          <p:nvPr/>
        </p:nvSpPr>
        <p:spPr>
          <a:xfrm>
            <a:off x="8366760" y="4169664"/>
            <a:ext cx="2468880" cy="384048"/>
          </a:xfrm>
          <a:prstGeom prst="roundRect">
            <a:avLst>
              <a:gd name="adj" fmla="val 50000"/>
            </a:avLst>
          </a:prstGeom>
          <a:solidFill>
            <a:srgbClr val="E4F4EC"/>
          </a:solidFill>
          <a:ln/>
        </p:spPr>
      </p:sp>
      <p:sp>
        <p:nvSpPr>
          <p:cNvPr id="19" name="Text 16"/>
          <p:cNvSpPr/>
          <p:nvPr/>
        </p:nvSpPr>
        <p:spPr>
          <a:xfrm>
            <a:off x="8366760" y="4169664"/>
            <a:ext cx="2468880" cy="384048"/>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Built (P1)</a:t>
            </a:r>
            <a:endParaRPr lang="en-US" sz="1000" dirty="0"/>
          </a:p>
        </p:txBody>
      </p:sp>
      <p:sp>
        <p:nvSpPr>
          <p:cNvPr id="20" name="Shape 17"/>
          <p:cNvSpPr/>
          <p:nvPr/>
        </p:nvSpPr>
        <p:spPr>
          <a:xfrm>
            <a:off x="548640" y="4946904"/>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21" name="Text 18"/>
          <p:cNvSpPr/>
          <p:nvPr/>
        </p:nvSpPr>
        <p:spPr>
          <a:xfrm>
            <a:off x="822960" y="5074920"/>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Sitting Workspace</a:t>
            </a:r>
            <a:endParaRPr lang="en-US" sz="1350" dirty="0"/>
          </a:p>
        </p:txBody>
      </p:sp>
      <p:sp>
        <p:nvSpPr>
          <p:cNvPr id="22" name="Text 19"/>
          <p:cNvSpPr/>
          <p:nvPr/>
        </p:nvSpPr>
        <p:spPr>
          <a:xfrm>
            <a:off x="822960" y="5449824"/>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Project-board view of Commission sittings; kanban-by-stage and one-click approval still to come (P3–P4).</a:t>
            </a:r>
            <a:endParaRPr lang="en-US" sz="1000" dirty="0"/>
          </a:p>
        </p:txBody>
      </p:sp>
      <p:sp>
        <p:nvSpPr>
          <p:cNvPr id="23" name="Shape 20"/>
          <p:cNvSpPr/>
          <p:nvPr/>
        </p:nvSpPr>
        <p:spPr>
          <a:xfrm>
            <a:off x="8366760" y="5239512"/>
            <a:ext cx="2468880" cy="384048"/>
          </a:xfrm>
          <a:prstGeom prst="roundRect">
            <a:avLst>
              <a:gd name="adj" fmla="val 50000"/>
            </a:avLst>
          </a:prstGeom>
          <a:solidFill>
            <a:srgbClr val="E4F4EC"/>
          </a:solidFill>
          <a:ln/>
        </p:spPr>
      </p:sp>
      <p:sp>
        <p:nvSpPr>
          <p:cNvPr id="24" name="Text 21"/>
          <p:cNvSpPr/>
          <p:nvPr/>
        </p:nvSpPr>
        <p:spPr>
          <a:xfrm>
            <a:off x="8366760" y="5239512"/>
            <a:ext cx="2468880" cy="384048"/>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Built (P1–P2)</a:t>
            </a:r>
            <a:endParaRPr lang="en-US" sz="100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pic>
        <p:nvPicPr>
          <p:cNvPr id="3" name="Image 1" descr="C:\Users\Herman Tevilili\AppData\Local\Temp\claude\C--Users-Herman-Tevilili-Documents-GitHub-commissionDecisionApp-v1-0\2d2d3a12-ae9e-4f4b-990a-3e1ebe47ec28\scratchpad\scdms_deck\assets\rings.png"/>
          <p:cNvPicPr>
            <a:picLocks noChangeAspect="1"/>
          </p:cNvPicPr>
          <p:nvPr/>
        </p:nvPicPr>
        <p:blipFill>
          <a:blip r:embed="rId4">
            <a:alphaModFix amt="55000"/>
          </a:blip>
          <a:stretch>
            <a:fillRect/>
          </a:stretch>
        </p:blipFill>
        <p:spPr>
          <a:xfrm>
            <a:off x="10271455" y="4937760"/>
            <a:ext cx="2926080" cy="2926080"/>
          </a:xfrm>
          <a:prstGeom prst="rect">
            <a:avLst/>
          </a:prstGeom>
        </p:spPr>
      </p:pic>
      <p:sp>
        <p:nvSpPr>
          <p:cNvPr id="4"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NEXT</a:t>
            </a:r>
            <a:endParaRPr lang="en-US" sz="1200" dirty="0"/>
          </a:p>
        </p:txBody>
      </p:sp>
      <p:sp>
        <p:nvSpPr>
          <p:cNvPr id="5" name="Text 1"/>
          <p:cNvSpPr/>
          <p:nvPr/>
        </p:nvSpPr>
        <p:spPr>
          <a:xfrm>
            <a:off x="1691640" y="777240"/>
            <a:ext cx="9951415" cy="82296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Two stages before wider rollout: pre-pilot, then pilot</a:t>
            </a:r>
            <a:endParaRPr lang="en-US" sz="2600" dirty="0"/>
          </a:p>
        </p:txBody>
      </p:sp>
      <p:sp>
        <p:nvSpPr>
          <p:cNvPr id="6" name="Text 2"/>
          <p:cNvSpPr/>
          <p:nvPr/>
        </p:nvSpPr>
        <p:spPr>
          <a:xfrm>
            <a:off x="1691640" y="1417320"/>
            <a:ext cx="10058400" cy="594360"/>
          </a:xfrm>
          <a:prstGeom prst="rect">
            <a:avLst/>
          </a:prstGeom>
          <a:noFill/>
          <a:ln/>
        </p:spPr>
        <p:txBody>
          <a:bodyPr wrap="square" rtlCol="0" anchor="ctr"/>
          <a:lstStyle/>
          <a:p>
            <a:pPr marL="0" indent="0">
              <a:lnSpc>
                <a:spcPct val="125000"/>
              </a:lnSpc>
              <a:buNone/>
            </a:pPr>
            <a:r>
              <a:rPr lang="en-US" sz="1200" dirty="0">
                <a:solidFill>
                  <a:srgbClr val="CBBFE6"/>
                </a:solidFill>
                <a:latin typeface="Calibri" pitchFamily="34" charset="0"/>
                <a:ea typeface="Calibri" pitchFamily="34" charset="-122"/>
                <a:cs typeface="Calibri" pitchFamily="34" charset="-120"/>
              </a:rPr>
              <a:t>Pre-pilot proves the system works under real conditions, with PSC staff only. Pilot proves it works for real ministries. Separating them contains risk before any live personnel decision runs through SCDMS.</a:t>
            </a:r>
            <a:endParaRPr lang="en-US" sz="1200" dirty="0"/>
          </a:p>
        </p:txBody>
      </p:sp>
      <p:sp>
        <p:nvSpPr>
          <p:cNvPr id="7" name="Shape 3"/>
          <p:cNvSpPr/>
          <p:nvPr/>
        </p:nvSpPr>
        <p:spPr>
          <a:xfrm>
            <a:off x="548640" y="2148840"/>
            <a:ext cx="5349240" cy="3611880"/>
          </a:xfrm>
          <a:prstGeom prst="roundRect">
            <a:avLst>
              <a:gd name="adj" fmla="val 2278"/>
            </a:avLst>
          </a:prstGeom>
          <a:solidFill>
            <a:srgbClr val="F5F3FB"/>
          </a:solidFill>
          <a:ln/>
          <a:effectLst>
            <a:outerShdw blurRad="127000" dist="38100" dir="5400000" algn="bl" rotWithShape="0">
              <a:srgbClr val="1B0B3E">
                <a:alpha val="35000"/>
              </a:srgbClr>
            </a:outerShdw>
          </a:effectLst>
        </p:spPr>
      </p:sp>
      <p:sp>
        <p:nvSpPr>
          <p:cNvPr id="8" name="Text 4"/>
          <p:cNvSpPr/>
          <p:nvPr/>
        </p:nvSpPr>
        <p:spPr>
          <a:xfrm>
            <a:off x="868680" y="2377440"/>
            <a:ext cx="329184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Pre-Pilot</a:t>
            </a:r>
            <a:endParaRPr lang="en-US" sz="1450" dirty="0"/>
          </a:p>
        </p:txBody>
      </p:sp>
      <p:sp>
        <p:nvSpPr>
          <p:cNvPr id="9" name="Shape 5"/>
          <p:cNvSpPr/>
          <p:nvPr/>
        </p:nvSpPr>
        <p:spPr>
          <a:xfrm>
            <a:off x="4206240" y="2377440"/>
            <a:ext cx="1554480" cy="329184"/>
          </a:xfrm>
          <a:prstGeom prst="roundRect">
            <a:avLst>
              <a:gd name="adj" fmla="val 50000"/>
            </a:avLst>
          </a:prstGeom>
          <a:solidFill>
            <a:srgbClr val="FBF0DC"/>
          </a:solidFill>
          <a:ln/>
        </p:spPr>
      </p:sp>
      <p:sp>
        <p:nvSpPr>
          <p:cNvPr id="10" name="Text 6"/>
          <p:cNvSpPr/>
          <p:nvPr/>
        </p:nvSpPr>
        <p:spPr>
          <a:xfrm>
            <a:off x="4206240" y="2377440"/>
            <a:ext cx="155448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Internal only</a:t>
            </a:r>
            <a:endParaRPr lang="en-US" sz="1000" dirty="0"/>
          </a:p>
        </p:txBody>
      </p:sp>
      <p:sp>
        <p:nvSpPr>
          <p:cNvPr id="11" name="Text 7"/>
          <p:cNvSpPr/>
          <p:nvPr/>
        </p:nvSpPr>
        <p:spPr>
          <a:xfrm>
            <a:off x="868680" y="2852928"/>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Real reference data loaded - ministries, departments, users - but no live submissions yet</a:t>
            </a:r>
            <a:endParaRPr lang="en-US" sz="1080" dirty="0"/>
          </a:p>
        </p:txBody>
      </p:sp>
      <p:sp>
        <p:nvSpPr>
          <p:cNvPr id="12" name="Text 8"/>
          <p:cNvSpPr/>
          <p:nvPr/>
        </p:nvSpPr>
        <p:spPr>
          <a:xfrm>
            <a:off x="868680" y="3383280"/>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Security fully activated: 2FA and the rest of the auth posture turned on</a:t>
            </a:r>
            <a:endParaRPr lang="en-US" sz="1080" dirty="0"/>
          </a:p>
        </p:txBody>
      </p:sp>
      <p:sp>
        <p:nvSpPr>
          <p:cNvPr id="13" name="Text 9"/>
          <p:cNvSpPr/>
          <p:nvPr/>
        </p:nvSpPr>
        <p:spPr>
          <a:xfrm>
            <a:off x="868680" y="3913632"/>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Running on the DCDT-provisioned server, not local dev</a:t>
            </a:r>
            <a:endParaRPr lang="en-US" sz="1080" dirty="0"/>
          </a:p>
        </p:txBody>
      </p:sp>
      <p:sp>
        <p:nvSpPr>
          <p:cNvPr id="14" name="Text 10"/>
          <p:cNvSpPr/>
          <p:nvPr/>
        </p:nvSpPr>
        <p:spPr>
          <a:xfrm>
            <a:off x="868680" y="4443984"/>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Formal internal UAT by PSC staff, end to end</a:t>
            </a:r>
            <a:endParaRPr lang="en-US" sz="1080" dirty="0"/>
          </a:p>
        </p:txBody>
      </p:sp>
      <p:sp>
        <p:nvSpPr>
          <p:cNvPr id="15" name="Text 11"/>
          <p:cNvSpPr/>
          <p:nvPr/>
        </p:nvSpPr>
        <p:spPr>
          <a:xfrm>
            <a:off x="868680" y="4974336"/>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Outstanding unit workflow sign-offs confirmed (ODU, CIU, VIPAM, HRM)</a:t>
            </a:r>
            <a:endParaRPr lang="en-US" sz="1080" dirty="0"/>
          </a:p>
        </p:txBody>
      </p:sp>
      <p:sp>
        <p:nvSpPr>
          <p:cNvPr id="16" name="Shape 12"/>
          <p:cNvSpPr/>
          <p:nvPr/>
        </p:nvSpPr>
        <p:spPr>
          <a:xfrm>
            <a:off x="6263640" y="2148840"/>
            <a:ext cx="5349240" cy="3611880"/>
          </a:xfrm>
          <a:prstGeom prst="roundRect">
            <a:avLst>
              <a:gd name="adj" fmla="val 2278"/>
            </a:avLst>
          </a:prstGeom>
          <a:solidFill>
            <a:srgbClr val="1E0E42"/>
          </a:solidFill>
          <a:ln/>
          <a:effectLst>
            <a:outerShdw blurRad="127000" dist="38100" dir="5400000" algn="bl" rotWithShape="0">
              <a:srgbClr val="1B0B3E">
                <a:alpha val="35000"/>
              </a:srgbClr>
            </a:outerShdw>
          </a:effectLst>
        </p:spPr>
      </p:sp>
      <p:sp>
        <p:nvSpPr>
          <p:cNvPr id="17" name="Text 13"/>
          <p:cNvSpPr/>
          <p:nvPr/>
        </p:nvSpPr>
        <p:spPr>
          <a:xfrm>
            <a:off x="6583680" y="2377440"/>
            <a:ext cx="329184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Pilot</a:t>
            </a:r>
            <a:endParaRPr lang="en-US" sz="1450" dirty="0"/>
          </a:p>
        </p:txBody>
      </p:sp>
      <p:sp>
        <p:nvSpPr>
          <p:cNvPr id="18" name="Shape 14"/>
          <p:cNvSpPr/>
          <p:nvPr/>
        </p:nvSpPr>
        <p:spPr>
          <a:xfrm>
            <a:off x="9601200" y="2377440"/>
            <a:ext cx="1645920" cy="329184"/>
          </a:xfrm>
          <a:prstGeom prst="roundRect">
            <a:avLst>
              <a:gd name="adj" fmla="val 50000"/>
            </a:avLst>
          </a:prstGeom>
          <a:solidFill>
            <a:srgbClr val="FBF0DC"/>
          </a:solidFill>
          <a:ln/>
        </p:spPr>
      </p:sp>
      <p:sp>
        <p:nvSpPr>
          <p:cNvPr id="19" name="Text 15"/>
          <p:cNvSpPr/>
          <p:nvPr/>
        </p:nvSpPr>
        <p:spPr>
          <a:xfrm>
            <a:off x="9601200" y="2377440"/>
            <a:ext cx="164592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1–2 ministries</a:t>
            </a:r>
            <a:endParaRPr lang="en-US" sz="1000" dirty="0"/>
          </a:p>
        </p:txBody>
      </p:sp>
      <p:sp>
        <p:nvSpPr>
          <p:cNvPr id="20" name="Text 16"/>
          <p:cNvSpPr/>
          <p:nvPr/>
        </p:nvSpPr>
        <p:spPr>
          <a:xfrm>
            <a:off x="6583680" y="2852928"/>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Real ministries, real submissions, real Commission decisions</a:t>
            </a:r>
            <a:endParaRPr lang="en-US" sz="1080" dirty="0"/>
          </a:p>
        </p:txBody>
      </p:sp>
      <p:sp>
        <p:nvSpPr>
          <p:cNvPr id="21" name="Text 17"/>
          <p:cNvSpPr/>
          <p:nvPr/>
        </p:nvSpPr>
        <p:spPr>
          <a:xfrm>
            <a:off x="6583680" y="3383280"/>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A small, deliberate cohort - not a full rollout</a:t>
            </a:r>
            <a:endParaRPr lang="en-US" sz="1080" dirty="0"/>
          </a:p>
        </p:txBody>
      </p:sp>
      <p:sp>
        <p:nvSpPr>
          <p:cNvPr id="22" name="Text 18"/>
          <p:cNvSpPr/>
          <p:nvPr/>
        </p:nvSpPr>
        <p:spPr>
          <a:xfrm>
            <a:off x="6583680" y="3913632"/>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Training delivered to participants before go-live</a:t>
            </a:r>
            <a:endParaRPr lang="en-US" sz="1080" dirty="0"/>
          </a:p>
        </p:txBody>
      </p:sp>
      <p:sp>
        <p:nvSpPr>
          <p:cNvPr id="23" name="Text 19"/>
          <p:cNvSpPr/>
          <p:nvPr/>
        </p:nvSpPr>
        <p:spPr>
          <a:xfrm>
            <a:off x="6583680" y="4443984"/>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Helpdesk/support staffed for the duration of the pilot window</a:t>
            </a:r>
            <a:endParaRPr lang="en-US" sz="1080" dirty="0"/>
          </a:p>
        </p:txBody>
      </p:sp>
      <p:sp>
        <p:nvSpPr>
          <p:cNvPr id="24" name="Text 20"/>
          <p:cNvSpPr/>
          <p:nvPr/>
        </p:nvSpPr>
        <p:spPr>
          <a:xfrm>
            <a:off x="6583680" y="4974336"/>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Committee checkpoint to review results before wider rollout</a:t>
            </a:r>
            <a:endParaRPr lang="en-US" sz="1080" dirty="0"/>
          </a:p>
        </p:txBody>
      </p:sp>
      <p:sp>
        <p:nvSpPr>
          <p:cNvPr id="25" name="Shape 21"/>
          <p:cNvSpPr/>
          <p:nvPr/>
        </p:nvSpPr>
        <p:spPr>
          <a:xfrm>
            <a:off x="548640" y="5943600"/>
            <a:ext cx="11064240" cy="594360"/>
          </a:xfrm>
          <a:prstGeom prst="roundRect">
            <a:avLst>
              <a:gd name="adj" fmla="val 13846"/>
            </a:avLst>
          </a:prstGeom>
          <a:solidFill>
            <a:srgbClr val="FBF3E4"/>
          </a:solidFill>
          <a:ln/>
          <a:effectLst>
            <a:outerShdw blurRad="127000" dist="38100" dir="5400000" algn="bl" rotWithShape="0">
              <a:srgbClr val="1B0B3E">
                <a:alpha val="35000"/>
              </a:srgbClr>
            </a:outerShdw>
          </a:effectLst>
        </p:spPr>
      </p:sp>
      <p:sp>
        <p:nvSpPr>
          <p:cNvPr id="26" name="Text 22"/>
          <p:cNvSpPr/>
          <p:nvPr/>
        </p:nvSpPr>
        <p:spPr>
          <a:xfrm>
            <a:off x="868680" y="5943600"/>
            <a:ext cx="10424160" cy="594360"/>
          </a:xfrm>
          <a:prstGeom prst="rect">
            <a:avLst/>
          </a:prstGeom>
          <a:noFill/>
          <a:ln/>
        </p:spPr>
        <p:txBody>
          <a:bodyPr wrap="square" rtlCol="0" anchor="ctr"/>
          <a:lstStyle/>
          <a:p>
            <a:pPr marL="0" indent="0">
              <a:lnSpc>
                <a:spcPct val="115000"/>
              </a:lnSpc>
              <a:buNone/>
            </a:pPr>
            <a:r>
              <a:rPr lang="en-US" sz="1100" b="1" i="1" dirty="0">
                <a:solidFill>
                  <a:srgbClr val="2C0F5E"/>
                </a:solidFill>
                <a:latin typeface="Calibri" pitchFamily="34" charset="0"/>
                <a:ea typeface="Calibri" pitchFamily="34" charset="-122"/>
                <a:cs typeface="Calibri" pitchFamily="34" charset="-120"/>
              </a:rPr>
              <a:t>In short:  </a:t>
            </a:r>
            <a:r>
              <a:rPr lang="en-US" sz="1100" i="1" dirty="0">
                <a:solidFill>
                  <a:srgbClr val="5C5470"/>
                </a:solidFill>
                <a:latin typeface="Calibri" pitchFamily="34" charset="0"/>
                <a:ea typeface="Calibri" pitchFamily="34" charset="-122"/>
                <a:cs typeface="Calibri" pitchFamily="34" charset="-120"/>
              </a:rPr>
              <a:t>pre-pilot asks “does it work?” with people who already know the system; pilot asks “does it work for them?” with people who don't.</a:t>
            </a:r>
            <a:endParaRPr lang="en-US" sz="1100" dirty="0"/>
          </a:p>
        </p:txBody>
      </p:sp>
      <p:sp>
        <p:nvSpPr>
          <p:cNvPr id="27" name="Text 23"/>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8" name="Text 24"/>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 WE NEED</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What we're asking of the Committee today</a:t>
            </a:r>
            <a:endParaRPr lang="en-US" sz="2900" dirty="0"/>
          </a:p>
        </p:txBody>
      </p:sp>
      <p:sp>
        <p:nvSpPr>
          <p:cNvPr id="5" name="Shape 2"/>
          <p:cNvSpPr/>
          <p:nvPr/>
        </p:nvSpPr>
        <p:spPr>
          <a:xfrm>
            <a:off x="548640" y="17830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6" name="Shape 3"/>
          <p:cNvSpPr/>
          <p:nvPr/>
        </p:nvSpPr>
        <p:spPr>
          <a:xfrm>
            <a:off x="800100" y="1988820"/>
            <a:ext cx="594360" cy="594360"/>
          </a:xfrm>
          <a:prstGeom prst="ellipse">
            <a:avLst/>
          </a:prstGeom>
          <a:solidFill>
            <a:srgbClr val="D9A441"/>
          </a:solidFill>
          <a:ln/>
        </p:spPr>
      </p:sp>
      <p:sp>
        <p:nvSpPr>
          <p:cNvPr id="7" name="Text 4"/>
          <p:cNvSpPr/>
          <p:nvPr/>
        </p:nvSpPr>
        <p:spPr>
          <a:xfrm>
            <a:off x="800100" y="19888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1</a:t>
            </a:r>
            <a:endParaRPr lang="en-US" sz="1800" dirty="0"/>
          </a:p>
        </p:txBody>
      </p:sp>
      <p:sp>
        <p:nvSpPr>
          <p:cNvPr id="8" name="Text 5"/>
          <p:cNvSpPr/>
          <p:nvPr/>
        </p:nvSpPr>
        <p:spPr>
          <a:xfrm>
            <a:off x="1737360" y="19842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Endorse the pre-pilot &amp; pilot approach</a:t>
            </a:r>
            <a:endParaRPr lang="en-US" sz="1450" dirty="0"/>
          </a:p>
        </p:txBody>
      </p:sp>
      <p:sp>
        <p:nvSpPr>
          <p:cNvPr id="9" name="Text 6"/>
          <p:cNvSpPr/>
          <p:nvPr/>
        </p:nvSpPr>
        <p:spPr>
          <a:xfrm>
            <a:off x="868680" y="28346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Agree to move from internal testing into pre-pilot, then a defined, scoped pilot phase.</a:t>
            </a:r>
            <a:endParaRPr lang="en-US" sz="1100" dirty="0"/>
          </a:p>
        </p:txBody>
      </p:sp>
      <p:sp>
        <p:nvSpPr>
          <p:cNvPr id="10" name="Shape 7"/>
          <p:cNvSpPr/>
          <p:nvPr/>
        </p:nvSpPr>
        <p:spPr>
          <a:xfrm>
            <a:off x="6126480" y="17830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11" name="Shape 8"/>
          <p:cNvSpPr/>
          <p:nvPr/>
        </p:nvSpPr>
        <p:spPr>
          <a:xfrm>
            <a:off x="6377940" y="1988820"/>
            <a:ext cx="594360" cy="594360"/>
          </a:xfrm>
          <a:prstGeom prst="ellipse">
            <a:avLst/>
          </a:prstGeom>
          <a:solidFill>
            <a:srgbClr val="D9A441"/>
          </a:solidFill>
          <a:ln/>
        </p:spPr>
      </p:sp>
      <p:sp>
        <p:nvSpPr>
          <p:cNvPr id="12" name="Text 9"/>
          <p:cNvSpPr/>
          <p:nvPr/>
        </p:nvSpPr>
        <p:spPr>
          <a:xfrm>
            <a:off x="6377940" y="19888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2</a:t>
            </a:r>
            <a:endParaRPr lang="en-US" sz="1800" dirty="0"/>
          </a:p>
        </p:txBody>
      </p:sp>
      <p:sp>
        <p:nvSpPr>
          <p:cNvPr id="13" name="Text 10"/>
          <p:cNvSpPr/>
          <p:nvPr/>
        </p:nvSpPr>
        <p:spPr>
          <a:xfrm>
            <a:off x="7315200" y="19842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Confirm pilot ministries</a:t>
            </a:r>
            <a:endParaRPr lang="en-US" sz="1450" dirty="0"/>
          </a:p>
        </p:txBody>
      </p:sp>
      <p:sp>
        <p:nvSpPr>
          <p:cNvPr id="14" name="Text 11"/>
          <p:cNvSpPr/>
          <p:nvPr/>
        </p:nvSpPr>
        <p:spPr>
          <a:xfrm>
            <a:off x="6446520" y="28346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Nominate the ministries / units to participate in the first pilot cohort.</a:t>
            </a:r>
            <a:endParaRPr lang="en-US" sz="1100" dirty="0"/>
          </a:p>
        </p:txBody>
      </p:sp>
      <p:sp>
        <p:nvSpPr>
          <p:cNvPr id="15" name="Shape 12"/>
          <p:cNvSpPr/>
          <p:nvPr/>
        </p:nvSpPr>
        <p:spPr>
          <a:xfrm>
            <a:off x="548640" y="38404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16" name="Shape 13"/>
          <p:cNvSpPr/>
          <p:nvPr/>
        </p:nvSpPr>
        <p:spPr>
          <a:xfrm>
            <a:off x="800100" y="4046220"/>
            <a:ext cx="594360" cy="594360"/>
          </a:xfrm>
          <a:prstGeom prst="ellipse">
            <a:avLst/>
          </a:prstGeom>
          <a:solidFill>
            <a:srgbClr val="D9A441"/>
          </a:solidFill>
          <a:ln/>
        </p:spPr>
      </p:sp>
      <p:sp>
        <p:nvSpPr>
          <p:cNvPr id="17" name="Text 14"/>
          <p:cNvSpPr/>
          <p:nvPr/>
        </p:nvSpPr>
        <p:spPr>
          <a:xfrm>
            <a:off x="800100" y="40462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737360" y="40416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Support data &amp; user readiness</a:t>
            </a:r>
            <a:endParaRPr lang="en-US" sz="1450" dirty="0"/>
          </a:p>
        </p:txBody>
      </p:sp>
      <p:sp>
        <p:nvSpPr>
          <p:cNvPr id="19" name="Text 16"/>
          <p:cNvSpPr/>
          <p:nvPr/>
        </p:nvSpPr>
        <p:spPr>
          <a:xfrm>
            <a:off x="868680" y="48920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Approve provisioning real reference data and verified user accounts for pilot participants.</a:t>
            </a:r>
            <a:endParaRPr lang="en-US" sz="1100" dirty="0"/>
          </a:p>
        </p:txBody>
      </p:sp>
      <p:sp>
        <p:nvSpPr>
          <p:cNvPr id="20" name="Shape 17"/>
          <p:cNvSpPr/>
          <p:nvPr/>
        </p:nvSpPr>
        <p:spPr>
          <a:xfrm>
            <a:off x="6126480" y="38404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21" name="Shape 18"/>
          <p:cNvSpPr/>
          <p:nvPr/>
        </p:nvSpPr>
        <p:spPr>
          <a:xfrm>
            <a:off x="6377940" y="4046220"/>
            <a:ext cx="594360" cy="594360"/>
          </a:xfrm>
          <a:prstGeom prst="ellipse">
            <a:avLst/>
          </a:prstGeom>
          <a:solidFill>
            <a:srgbClr val="D9A441"/>
          </a:solidFill>
          <a:ln/>
        </p:spPr>
      </p:sp>
      <p:sp>
        <p:nvSpPr>
          <p:cNvPr id="22" name="Text 19"/>
          <p:cNvSpPr/>
          <p:nvPr/>
        </p:nvSpPr>
        <p:spPr>
          <a:xfrm>
            <a:off x="6377940" y="40462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4</a:t>
            </a:r>
            <a:endParaRPr lang="en-US" sz="1800" dirty="0"/>
          </a:p>
        </p:txBody>
      </p:sp>
      <p:sp>
        <p:nvSpPr>
          <p:cNvPr id="23" name="Text 20"/>
          <p:cNvSpPr/>
          <p:nvPr/>
        </p:nvSpPr>
        <p:spPr>
          <a:xfrm>
            <a:off x="7315200" y="40416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Set a review checkpoint</a:t>
            </a:r>
            <a:endParaRPr lang="en-US" sz="1450" dirty="0"/>
          </a:p>
        </p:txBody>
      </p:sp>
      <p:sp>
        <p:nvSpPr>
          <p:cNvPr id="24" name="Text 21"/>
          <p:cNvSpPr/>
          <p:nvPr/>
        </p:nvSpPr>
        <p:spPr>
          <a:xfrm>
            <a:off x="6446520" y="48920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Agree a date for the Committee to review pilot results before wider rollout.</a:t>
            </a:r>
            <a:endParaRPr lang="en-US" sz="110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pic>
        <p:nvPicPr>
          <p:cNvPr id="4" name="Image 2" descr="C:\Users\Herman Tevilili\AppData\Local\Temp\claude\C--Users-Herman-Tevilili-Documents-GitHub-commissionDecisionApp-v1-0\2d2d3a12-ae9e-4f4b-990a-3e1ebe47ec28\scratchpad\scdms_deck\assets\crown.png"/>
          <p:cNvPicPr>
            <a:picLocks noChangeAspect="1"/>
          </p:cNvPicPr>
          <p:nvPr/>
        </p:nvPicPr>
        <p:blipFill>
          <a:blip r:embed="rId4">
            <a:alphaModFix amt="92000"/>
          </a:blip>
          <a:stretch>
            <a:fillRect/>
          </a:stretch>
        </p:blipFill>
        <p:spPr>
          <a:xfrm>
            <a:off x="9722815" y="4921832"/>
            <a:ext cx="3383280" cy="2804848"/>
          </a:xfrm>
          <a:prstGeom prst="rect">
            <a:avLst/>
          </a:prstGeom>
        </p:spPr>
      </p:pic>
      <p:sp>
        <p:nvSpPr>
          <p:cNvPr id="5" name="Text 0"/>
          <p:cNvSpPr/>
          <p:nvPr/>
        </p:nvSpPr>
        <p:spPr>
          <a:xfrm>
            <a:off x="731520" y="2468880"/>
            <a:ext cx="9144000" cy="1005840"/>
          </a:xfrm>
          <a:prstGeom prst="rect">
            <a:avLst/>
          </a:prstGeom>
          <a:noFill/>
          <a:ln/>
        </p:spPr>
        <p:txBody>
          <a:bodyPr wrap="square"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6" name="Text 1"/>
          <p:cNvSpPr/>
          <p:nvPr/>
        </p:nvSpPr>
        <p:spPr>
          <a:xfrm>
            <a:off x="731520" y="3337560"/>
            <a:ext cx="9144000" cy="548640"/>
          </a:xfrm>
          <a:prstGeom prst="rect">
            <a:avLst/>
          </a:prstGeom>
          <a:noFill/>
          <a:ln/>
        </p:spPr>
        <p:txBody>
          <a:bodyPr wrap="square" rtlCol="0" anchor="ctr"/>
          <a:lstStyle/>
          <a:p>
            <a:pPr marL="0" indent="0">
              <a:buNone/>
            </a:pPr>
            <a:r>
              <a:rPr lang="en-US" sz="1800" dirty="0">
                <a:solidFill>
                  <a:srgbClr val="EDE8F7"/>
                </a:solidFill>
                <a:latin typeface="Calibri" pitchFamily="34" charset="0"/>
                <a:ea typeface="Calibri" pitchFamily="34" charset="-122"/>
                <a:cs typeface="Calibri" pitchFamily="34" charset="-120"/>
              </a:rPr>
              <a:t>Questions &amp; discussion</a:t>
            </a:r>
            <a:endParaRPr lang="en-US" sz="1800" dirty="0"/>
          </a:p>
        </p:txBody>
      </p:sp>
      <p:sp>
        <p:nvSpPr>
          <p:cNvPr id="7" name="Text 2"/>
          <p:cNvSpPr/>
          <p:nvPr/>
        </p:nvSpPr>
        <p:spPr>
          <a:xfrm>
            <a:off x="731520" y="5760720"/>
            <a:ext cx="7315200" cy="731520"/>
          </a:xfrm>
          <a:prstGeom prst="rect">
            <a:avLst/>
          </a:prstGeom>
          <a:noFill/>
          <a:ln/>
        </p:spPr>
        <p:txBody>
          <a:bodyPr wrap="square" rtlCol="0" anchor="ctr"/>
          <a:lstStyle/>
          <a:p>
            <a:pPr marL="0" indent="0">
              <a:lnSpc>
                <a:spcPct val="130000"/>
              </a:lnSpc>
              <a:buNone/>
            </a:pPr>
            <a:r>
              <a:rPr lang="en-US" sz="1200" dirty="0">
                <a:solidFill>
                  <a:srgbClr val="CBBFE6"/>
                </a:solidFill>
                <a:latin typeface="Calibri" pitchFamily="34" charset="0"/>
                <a:ea typeface="Calibri" pitchFamily="34" charset="-122"/>
                <a:cs typeface="Calibri" pitchFamily="34" charset="-120"/>
              </a:rPr>
              <a:t>Information &amp; Technology Planning Division (IPDU)</a:t>
            </a:r>
            <a:endParaRPr lang="en-US" sz="1200" dirty="0"/>
          </a:p>
          <a:p>
            <a:pPr marL="0" indent="0">
              <a:lnSpc>
                <a:spcPct val="130000"/>
              </a:lnSpc>
              <a:buNone/>
            </a:pPr>
            <a:r>
              <a:rPr lang="en-US" sz="1200" dirty="0">
                <a:solidFill>
                  <a:srgbClr val="CBBFE6"/>
                </a:solidFill>
                <a:latin typeface="Calibri" pitchFamily="34" charset="0"/>
                <a:ea typeface="Calibri" pitchFamily="34" charset="-122"/>
                <a:cs typeface="Calibri" pitchFamily="34" charset="-120"/>
              </a:rPr>
              <a:t>Office of the Public Service Commission, Vanuatu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2660</Words>
  <Application>Microsoft Office PowerPoint</Application>
  <PresentationFormat>Widescreen</PresentationFormat>
  <Paragraphs>414</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Herman Tevilili</cp:lastModifiedBy>
  <cp:revision>2</cp:revision>
  <dcterms:created xsi:type="dcterms:W3CDTF">2026-07-27T00:36:28Z</dcterms:created>
  <dcterms:modified xsi:type="dcterms:W3CDTF">2026-07-27T00:39:56Z</dcterms:modified>
</cp:coreProperties>
</file>